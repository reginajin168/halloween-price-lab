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8b36e392e6417a" /><Relationship Type="http://schemas.openxmlformats.org/officeDocument/2006/relationships/extended-properties" Target="/docProps/app.xml" Id="R562be1a0e29a4c36" /><Relationship Type="http://schemas.openxmlformats.org/officeDocument/2006/relationships/officeDocument" Target="/ppt/presentation.xml" Id="R5afd58a3d6544e73" /></Relationships>
</file>

<file path=ppt/presentation.xml><?xml version="1.0" encoding="utf-8"?>
<p:presentation xmlns:p="http://schemas.openxmlformats.org/presentationml/2006/main">
  <p:sldMasterIdLst>
    <p:sldMasterId xmlns:r="http://schemas.openxmlformats.org/officeDocument/2006/relationships" id="2147483648" r:id="R4638691dbba240f4"/>
  </p:sldMasterIdLst>
  <p:notesMasterIdLst>
    <p:notesMasterId xmlns:r="http://schemas.openxmlformats.org/officeDocument/2006/relationships" r:id="Rd3b171e1f1db4f96"/>
  </p:notesMasterIdLst>
  <p:sldIdLst>
    <p:sldId xmlns:r="http://schemas.openxmlformats.org/officeDocument/2006/relationships" id="256" r:id="Rc5e3555e7098468f"/>
    <p:sldId xmlns:r="http://schemas.openxmlformats.org/officeDocument/2006/relationships" id="257" r:id="R26523d3fda164101"/>
    <p:sldId xmlns:r="http://schemas.openxmlformats.org/officeDocument/2006/relationships" id="258" r:id="Rd1409d401591428b"/>
    <p:sldId xmlns:r="http://schemas.openxmlformats.org/officeDocument/2006/relationships" id="259" r:id="R4f0bbb4aac3241bc"/>
    <p:sldId xmlns:r="http://schemas.openxmlformats.org/officeDocument/2006/relationships" id="260" r:id="R9649e26a18374e9a"/>
    <p:sldId xmlns:r="http://schemas.openxmlformats.org/officeDocument/2006/relationships" id="261" r:id="R8f14408490ef4cda"/>
    <p:sldId xmlns:r="http://schemas.openxmlformats.org/officeDocument/2006/relationships" id="262" r:id="R8e28bd76ba8b42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91f1ce5d874300" /><Relationship Type="http://schemas.openxmlformats.org/officeDocument/2006/relationships/slideMaster" Target="/ppt/slideMasters/slideMaster1.xml" Id="R4638691dbba240f4" /><Relationship Type="http://schemas.openxmlformats.org/officeDocument/2006/relationships/notesMaster" Target="/ppt/notesMasters/notesMaster1.xml" Id="Rd3b171e1f1db4f96" /><Relationship Type="http://schemas.openxmlformats.org/officeDocument/2006/relationships/presProps" Target="/ppt/presProps.xml" Id="Rd96e31c019a949e5" /><Relationship Type="http://schemas.openxmlformats.org/officeDocument/2006/relationships/tableStyles" Target="/ppt/tableStyles.xml" Id="R581acb9621b1429f" /><Relationship Type="http://schemas.openxmlformats.org/officeDocument/2006/relationships/slide" Target="/ppt/slides/slide1.xml" Id="Rc5e3555e7098468f" /><Relationship Type="http://schemas.openxmlformats.org/officeDocument/2006/relationships/slide" Target="/ppt/slides/slide2.xml" Id="R26523d3fda164101" /><Relationship Type="http://schemas.openxmlformats.org/officeDocument/2006/relationships/slide" Target="/ppt/slides/slide3.xml" Id="Rd1409d401591428b" /><Relationship Type="http://schemas.openxmlformats.org/officeDocument/2006/relationships/slide" Target="/ppt/slides/slide4.xml" Id="R4f0bbb4aac3241bc" /><Relationship Type="http://schemas.openxmlformats.org/officeDocument/2006/relationships/slide" Target="/ppt/slides/slide5.xml" Id="R9649e26a18374e9a" /><Relationship Type="http://schemas.openxmlformats.org/officeDocument/2006/relationships/slide" Target="/ppt/slides/slide6.xml" Id="R8f14408490ef4cda" /><Relationship Type="http://schemas.openxmlformats.org/officeDocument/2006/relationships/slide" Target="/ppt/slides/slide7.xml" Id="R8e28bd76ba8b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e189f4e8554f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86d1ba6383478c" /><Relationship Type="http://schemas.openxmlformats.org/officeDocument/2006/relationships/notesMaster" Target="/ppt/notesMasters/notesMaster1.xml" Id="Re3cbf067ad4d40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6ec81327d74fa1" /><Relationship Type="http://schemas.openxmlformats.org/officeDocument/2006/relationships/notesMaster" Target="/ppt/notesMasters/notesMaster1.xml" Id="Rf47223d6a29448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131de7eb174f3f" /><Relationship Type="http://schemas.openxmlformats.org/officeDocument/2006/relationships/notesMaster" Target="/ppt/notesMasters/notesMaster1.xml" Id="Rdde21ca3d14448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5449ff23da45a8" /><Relationship Type="http://schemas.openxmlformats.org/officeDocument/2006/relationships/notesMaster" Target="/ppt/notesMasters/notesMaster1.xml" Id="Re39574dc67cd47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6b04e3bd764539" /><Relationship Type="http://schemas.openxmlformats.org/officeDocument/2006/relationships/notesMaster" Target="/ppt/notesMasters/notesMaster1.xml" Id="Ra9c05e46afbe4a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b36d1ec84344ed" /><Relationship Type="http://schemas.openxmlformats.org/officeDocument/2006/relationships/notesMaster" Target="/ppt/notesMasters/notesMaster1.xml" Id="R369209f64ec741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1d75bbb60346a1" /><Relationship Type="http://schemas.openxmlformats.org/officeDocument/2006/relationships/notesMaster" Target="/ppt/notesMasters/notesMaster1.xml" Id="R9e9f6ae90c334a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0:30</a:t>
            </a:r>
          </a:p>
          <a:p xmlns:a="http://schemas.openxmlformats.org/drawingml/2006/main">
            <a:r>
              <a:t/>
            </a:r>
          </a:p>
          <a:p xmlns:a="http://schemas.openxmlformats.org/drawingml/2006/main">
            <a:r>
              <a:t>教师讲解与操作</a:t>
            </a:r>
          </a:p>
          <a:p xmlns:a="http://schemas.openxmlformats.org/drawingml/2006/main">
            <a:r>
              <a:t>这是你独立讲授的CER决策部分，不包含队友的背景讲解或分工交接。先让学生说我们希望赚到钱，也希望游客完成两项活动。经营变量只有1到100美元的整美元票价。不要预先给出最佳票价或统一最低完成比例。</a:t>
            </a:r>
          </a:p>
          <a:p xmlns:a="http://schemas.openxmlformats.org/drawingml/2006/main">
            <a:r>
              <a:t/>
            </a:r>
          </a:p>
          <a:p xmlns:a="http://schemas.openxmlformats.org/drawingml/2006/main">
            <a:r>
              <a:t>ENGLISH SCRIPT</a:t>
            </a:r>
          </a:p>
          <a:p xmlns:a="http://schemas.openxmlformats.org/drawingml/2006/main">
            <a:r>
              <a:t>Your team will choose a ticket price for our Halloween night. We want to earn money and help guests finish both activities. You will make a claim, support it with evidence, and explain your reasoning.</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a:p xmlns:a="http://schemas.openxmlformats.org/drawingml/2006/main">
            <a:r>
              <a:t>Cover illustration retained from the existing lesson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0:45</a:t>
            </a:r>
          </a:p>
          <a:p xmlns:a="http://schemas.openxmlformats.org/drawingml/2006/main">
            <a:r>
              <a:t/>
            </a:r>
          </a:p>
          <a:p xmlns:a="http://schemas.openxmlformats.org/drawingml/2006/main">
            <a:r>
              <a:t>教师讲解与操作</a:t>
            </a:r>
          </a:p>
          <a:p xmlns:a="http://schemas.openxmlformats.org/drawingml/2006/main">
            <a:r>
              <a:t>说明两个数字。平均利润是付掉1800美元活动成本后每晚平均剩下的钱。用“每100位入场游客中，平均有多少位完成两项活动”解释比例。80%表示每100位入场游客中有80位完成两项；这是帮助理解的假设例子，不是全班最低要求。Costume House和南瓜屋两项需在关门前完整完成。只完成一项不算，野餐休息不列为必做活动。两项都来自电脑汇总，不让学生手算平均、讨论概率或比较夜晚。动画只展示一个利润接近均值的真实夜晚，不能从图上数人替代汇总完成率。</a:t>
            </a:r>
          </a:p>
          <a:p xmlns:a="http://schemas.openxmlformats.org/drawingml/2006/main">
            <a:r>
              <a:t/>
            </a:r>
          </a:p>
          <a:p xmlns:a="http://schemas.openxmlformats.org/drawingml/2006/main">
            <a:r>
              <a:t>ENGLISH SCRIPT</a:t>
            </a:r>
          </a:p>
          <a:p xmlns:a="http://schemas.openxmlformats.org/drawingml/2006/main">
            <a:r>
              <a:t>Average profit is the money left after paying the event cost. The percentage tells us: out of every one hundred admitted guests, how many finish both activities? For example, eighty percent means eighty out of every one hundred guests. Finishing only one house does not count. The computer gives us both averages. We use them to compare prices.</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0:45</a:t>
            </a:r>
          </a:p>
          <a:p xmlns:a="http://schemas.openxmlformats.org/drawingml/2006/main">
            <a:r>
              <a:t/>
            </a:r>
          </a:p>
          <a:p xmlns:a="http://schemas.openxmlformats.org/drawingml/2006/main">
            <a:r>
              <a:t>教师讲解与操作</a:t>
            </a:r>
          </a:p>
          <a:p xmlns:a="http://schemas.openxmlformats.org/drawingml/2006/main">
            <a:r>
              <a:t>按三句问题逐一介绍框架。Claim只回答选择；Evidence引用所选价格及至少一个对比价格的两个平均结果；Reasoning解释这些结果为什么支持选择。推理应说明最低标准为何合理、选择如何满足它，以及为什么接受利润与完成比例的取舍，不只是再读一遍数字。价格、人数、排队和收入的联系可作教师后续追问，不要求学生完整复述因果链。</a:t>
            </a:r>
          </a:p>
          <a:p xmlns:a="http://schemas.openxmlformats.org/drawingml/2006/main">
            <a:r>
              <a:t/>
            </a:r>
          </a:p>
          <a:p xmlns:a="http://schemas.openxmlformats.org/drawingml/2006/main">
            <a:r>
              <a:t>ENGLISH SCRIPT</a:t>
            </a:r>
          </a:p>
          <a:p xmlns:a="http://schemas.openxmlformats.org/drawingml/2006/main">
            <a:r>
              <a:t>Claim asks: What should we choose? Evidence asks: What information supports that choice? Reasoning asks: Why does the evidence make this a good choice? Your evidence is the two computer results. Your reasoning explains why you accept that balance.</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1:00</a:t>
            </a:r>
          </a:p>
          <a:p xmlns:a="http://schemas.openxmlformats.org/drawingml/2006/main">
            <a:r>
              <a:t/>
            </a:r>
          </a:p>
          <a:p xmlns:a="http://schemas.openxmlformats.org/drawingml/2006/main">
            <a:r>
              <a:t>教师讲解与操作</a:t>
            </a:r>
          </a:p>
          <a:p xmlns:a="http://schemas.openxmlformats.org/drawingml/2006/main">
            <a:r>
              <a:t>先让小组写整数百分比最低标准及理由，再看下一页结果，避免为了选某个价格倒定标准。把同一个最低数填入百分比和“每100人”两处空格。理由可体现对游客完成活动的重视。没有统一的90分或90%限制。“至少”含等于。达到标准的候选中比较平均利润。不同小组可提出不同且可辩护的标准，不把某个标准当隐藏正确答案。如无候选达标，可以报告现有选项无解、增加试验，或说明理由后修订标准并重新检查全部已试价格。页面百分比向下保留一位小数，因此整数标准按显示值判断不会误判。</a:t>
            </a:r>
          </a:p>
          <a:p xmlns:a="http://schemas.openxmlformats.org/drawingml/2006/main">
            <a:r>
              <a:t/>
            </a:r>
          </a:p>
          <a:p xmlns:a="http://schemas.openxmlformats.org/drawingml/2006/main">
            <a:r>
              <a:t>ENGLISH SCRIPT</a:t>
            </a:r>
          </a:p>
          <a:p xmlns:a="http://schemas.openxmlformats.org/drawingml/2006/main">
            <a:r>
              <a:t>Before you look at the results, choose your group’s minimum percentage. Write the same number as a percent and as a number out of every one hundred guests. Explain why that number matters to you. Use a whole percent. A result equal to your minimum counts. Compare prices that meet your standard, then look for higher average profit.</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1:00</a:t>
            </a:r>
          </a:p>
          <a:p xmlns:a="http://schemas.openxmlformats.org/drawingml/2006/main">
            <a:r>
              <a:t/>
            </a:r>
          </a:p>
          <a:p xmlns:a="http://schemas.openxmlformats.org/drawingml/2006/main">
            <a:r>
              <a:t>教师讲解与操作</a:t>
            </a:r>
          </a:p>
          <a:p xmlns:a="http://schemas.openxmlformats.org/drawingml/2006/main">
            <a:r>
              <a:t>这四行均是同一模型1000晚的汇总结果，不能替换成动画单晚的数值。先问哪些价格达到各组自己的标准，再问这些价格中哪个平均利润较高。不要说20是全局最佳，它只是这四行中利润最高。解释较低价格通常带来更多买票者和队列，更多人可能在关门前来不及完成；较高价格通常减少人数及排队，但少卖票可能压低利润。利润=单价×入场人数−固定成本。百分比是可观察的完成情况，不是体验评分。教师任选一种证据路径：学生试模拟器，或提供price_information.html的候选表/全部100价表；两条路径使用同一批结果，不要求两套都做。</a:t>
            </a:r>
          </a:p>
          <a:p xmlns:a="http://schemas.openxmlformats.org/drawingml/2006/main">
            <a:r>
              <a:t/>
            </a:r>
          </a:p>
          <a:p xmlns:a="http://schemas.openxmlformats.org/drawingml/2006/main">
            <a:r>
              <a:t>ENGLISH SCRIPT</a:t>
            </a:r>
          </a:p>
          <a:p xmlns:a="http://schemas.openxmlformats.org/drawingml/2006/main">
            <a:r>
              <a:t>Read the two results for each price. Which prices meet your group’s minimum? Of those, which earns more? Lower prices can bring more guests and longer lines. Higher prices can reduce lines, but they may sell fewer tickets. That can reduce profit. Use both results when you decide.</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1:00 setup, then 8–10:00 activity</a:t>
            </a:r>
          </a:p>
          <a:p xmlns:a="http://schemas.openxmlformats.org/drawingml/2006/main">
            <a:r>
              <a:t/>
            </a:r>
          </a:p>
          <a:p xmlns:a="http://schemas.openxmlformats.org/drawingml/2006/main">
            <a:r>
              <a:t>教师讲解与操作</a:t>
            </a:r>
          </a:p>
          <a:p xmlns:a="http://schemas.openxmlformats.org/drawingml/2006/main">
            <a:r>
              <a:t>每组先记录标准和理由。路径一：学生或你代操作模拟器，测试前先说预测，等Ready to compare后记录两个结果，可暂停观察队列，再根据证据改价。路径二：直接给信息表，学生圈至少两个价格并比较，动画可选用于理解完成含义。至少比较两个价格，建议记录一个未达标和一个达标的例子（如果有）。不要凭少量试验声称找到全部价格的全局最优。小组角色可以为选择/操作、记录、解释，但无需给另一位讲者安排角色。</a:t>
            </a:r>
          </a:p>
          <a:p xmlns:a="http://schemas.openxmlformats.org/drawingml/2006/main">
            <a:r>
              <a:t/>
            </a:r>
          </a:p>
          <a:p xmlns:a="http://schemas.openxmlformats.org/drawingml/2006/main">
            <a:r>
              <a:t>ENGLISH SCRIPT</a:t>
            </a:r>
          </a:p>
          <a:p xmlns:a="http://schemas.openxmlformats.org/drawingml/2006/main">
            <a:r>
              <a:t>Record your minimum and your reason. Use the simulator or the information sheet to compare at least two prices. Write both results and decide whether each price meets your minimum. You can try another price to improve your choice. Prepare a CER explanation using the best eligible price your team has compared.</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CER TEACHING PART · 1:00 share</a:t>
            </a:r>
          </a:p>
          <a:p xmlns:a="http://schemas.openxmlformats.org/drawingml/2006/main">
            <a:r>
              <a:t/>
            </a:r>
          </a:p>
          <a:p xmlns:a="http://schemas.openxmlformats.org/drawingml/2006/main">
            <a:r>
              <a:t>教师讲解与操作</a:t>
            </a:r>
          </a:p>
          <a:p xmlns:a="http://schemas.openxmlformats.org/drawingml/2006/main">
            <a:r>
              <a:t>用三句框架请1–2组汇报。Evidence必须有两项平均结果及一个对比价，Reasoning要解释最低标准的理由和取舍的理由。价格与人数/队列/票款的联系可选作进一步追问，不作为学生必须完成的额外解释。追问“为什么多赚钱的价格可能不合适？”“为什么更多游客不一定更赚钱？”“谁会有不同标准，因而不同选择？”评价标准是证据准确、满足自定要求、说明取舍，不是是否猜中一个票价。教师参考最优放指南折叠区，不在学生幻灯片揭晓。</a:t>
            </a:r>
          </a:p>
          <a:p xmlns:a="http://schemas.openxmlformats.org/drawingml/2006/main">
            <a:r>
              <a:t/>
            </a:r>
          </a:p>
          <a:p xmlns:a="http://schemas.openxmlformats.org/drawingml/2006/main">
            <a:r>
              <a:t>ENGLISH SCRIPT</a:t>
            </a:r>
          </a:p>
          <a:p xmlns:a="http://schemas.openxmlformats.org/drawingml/2006/main">
            <a:r>
              <a:t>State your price, then give both results and compare them with another price. Explain why your minimum matters and why this balance is worth choosing. If no tested price meets your minimum, explain that result and your next step. Another group may choose a different minimum and defend a different price.</a:t>
            </a:r>
          </a:p>
          <a:p xmlns:a="http://schemas.openxmlformats.org/drawingml/2006/main">
            <a:r>
              <a:t/>
            </a:r>
          </a:p>
          <a:p xmlns:a="http://schemas.openxmlformats.org/drawingml/2006/main">
            <a:r>
              <a:t>MODEL SOURCE: outputs/halloween_simulator/engine.js v3.3.0; fictional classroom model; fixed seed classroom-2026 and 1,000 nights. Average profit is the mean nightly profit. Average completion is total guests completing both houses by closing divided by total admitted guests across those nights, a guest-weighted average. Explain completion as the number finishing both per 100 admitted guests; it is a proportion, not a literal sample of 100 or a guarantee for every night. Student percentages are rounded DOWN to one decimal so displayed comparisons against whole-percent minima agree with raw values. The animation remains the actual night minimizing absolute profit difference from exact average, first index on ties; its completion rate is not substituted for the aggregate. Reference work/completion-return/verified-results.json.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c3afb4a76a48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68bb2bdfe24b58" /><Relationship Type="http://schemas.openxmlformats.org/officeDocument/2006/relationships/slideLayout" Target="/ppt/slideLayouts/slideLayout1.xml" Id="R26ab5e6e40904c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ab5e6e40904c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8ae56677ec4851" /><Relationship Type="http://schemas.openxmlformats.org/officeDocument/2006/relationships/image" Target="/ppt/media/image.png" Id="Ra5d652f1fee94995" /><Relationship Type="http://schemas.openxmlformats.org/officeDocument/2006/relationships/notesSlide" Target="/ppt/notesSlides/notesSlide1.xml" Id="Re7458508e7204c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fec6a88b4e487b" /><Relationship Type="http://schemas.openxmlformats.org/officeDocument/2006/relationships/notesSlide" Target="/ppt/notesSlides/notesSlide2.xml" Id="Rd155aa8975d243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ead99933c048df" /><Relationship Type="http://schemas.openxmlformats.org/officeDocument/2006/relationships/notesSlide" Target="/ppt/notesSlides/notesSlide3.xml" Id="Rbbe5c429b60441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c2756053884587" /><Relationship Type="http://schemas.openxmlformats.org/officeDocument/2006/relationships/notesSlide" Target="/ppt/notesSlides/notesSlide4.xml" Id="Rb86ba3954e8a4d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e03eda9c3e543e6" /><Relationship Type="http://schemas.openxmlformats.org/officeDocument/2006/relationships/notesSlide" Target="/ppt/notesSlides/notesSlide5.xml" Id="R628513a67a1441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9e438e92744e0c" /><Relationship Type="http://schemas.openxmlformats.org/officeDocument/2006/relationships/notesSlide" Target="/ppt/notesSlides/notesSlide6.xml" Id="Rbb31a554084b4d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f5c4b1dbc14929" /><Relationship Type="http://schemas.openxmlformats.org/officeDocument/2006/relationships/notesSlide" Target="/ppt/notesSlides/notesSlide7.xml" Id="R47f11687437247ac" /></Relationships>
</file>

<file path=ppt/slides/slide1.xml><?xml version="1.0" encoding="utf-8"?>
<p:sld xmlns:p="http://schemas.openxmlformats.org/presentationml/2006/main">
  <p:cSld>
    <p:bg>
      <p:bgPr>
        <a:solidFill xmlns:a="http://schemas.openxmlformats.org/drawingml/2006/main">
          <a:srgbClr val="24182D"/>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000DAF2-AAC0-43F5-8083-52C449DCBF50}"/>
              </a:ext>
            </a:extLst>
          </p:cNvPr>
          <p:cNvPicPr>
            <a:picLocks xmlns:a="http://schemas.openxmlformats.org/drawingml/2006/main" noChangeAspect="1"/>
          </p:cNvPicPr>
          <p:nvPr/>
        </p:nvPicPr>
        <p:blipFill>
          <a:blip xmlns:r="http://schemas.openxmlformats.org/officeDocument/2006/relationships" xmlns:a="http://schemas.openxmlformats.org/drawingml/2006/main" r:embed="Ra5d652f1fee9499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ro-title">
            <a:extLst xmlns:a="http://schemas.openxmlformats.org/drawingml/2006/main">
              <a:ext uri="{FF2B5EF4-FFF2-40B4-BE49-F238E27FC236}">
                <a16:creationId xmlns:a16="http://schemas.microsoft.com/office/drawing/2014/main" id="{6AFA914D-BF01-49D9-A96C-8F2A069CF2B3}"/>
              </a:ext>
            </a:extLst>
          </p:cNvPr>
          <p:cNvSpPr>
            <a:spLocks xmlns:a="http://schemas.openxmlformats.org/drawingml/2006/main" noGrp="1"/>
          </p:cNvSpPr>
          <p:nvPr/>
        </p:nvSpPr>
        <p:spPr>
          <a:xfrm xmlns:a="http://schemas.openxmlformats.org/drawingml/2006/main">
            <a:off x="647700" y="102870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100" b="1">
                <a:solidFill>
                  <a:srgbClr val="FFF3DF"/>
                </a:solidFill>
                <a:latin typeface="Helvetica Neue"/>
                <a:ea typeface="Helvetica Neue"/>
                <a:cs typeface="Helvetica Neue"/>
              </a:defRPr>
            </a:pPr>
            <a:r>
              <a:rPr sz="5100" b="1">
                <a:solidFill>
                  <a:srgbClr val="FFF3DF"/>
                </a:solidFill>
                <a:latin typeface="Helvetica Neue"/>
                <a:ea typeface="Helvetica Neue"/>
                <a:cs typeface="Helvetica Neue"/>
              </a:rPr>
              <a:t>Your ticket-price</a:t>
            </a:r>
          </a:p>
          <a:p xmlns:a="http://schemas.openxmlformats.org/drawingml/2006/main">
            <a:pPr>
              <a:buNone/>
              <a:defRPr sz="5100" b="1">
                <a:solidFill>
                  <a:srgbClr val="FFF3DF"/>
                </a:solidFill>
                <a:latin typeface="Helvetica Neue"/>
                <a:ea typeface="Helvetica Neue"/>
                <a:cs typeface="Helvetica Neue"/>
              </a:defRPr>
            </a:pPr>
            <a:r>
              <a:rPr sz="5100" b="1">
                <a:solidFill>
                  <a:srgbClr val="FFF3DF"/>
                </a:solidFill>
                <a:latin typeface="Helvetica Neue"/>
                <a:ea typeface="Helvetica Neue"/>
                <a:cs typeface="Helvetica Neue"/>
              </a:rPr>
              <a:t>decision</a:t>
            </a:r>
          </a:p>
        </p:txBody>
      </p:sp>
      <p:sp>
        <p:nvSpPr>
          <p:cNvPr id="3" name="hero-question">
            <a:extLst xmlns:a="http://schemas.openxmlformats.org/drawingml/2006/main">
              <a:ext uri="{FF2B5EF4-FFF2-40B4-BE49-F238E27FC236}">
                <a16:creationId xmlns:a16="http://schemas.microsoft.com/office/drawing/2014/main" id="{5F785BCF-E5B7-4FD1-9811-2FB97D0EEFE8}"/>
              </a:ext>
            </a:extLst>
          </p:cNvPr>
          <p:cNvSpPr>
            <a:spLocks xmlns:a="http://schemas.openxmlformats.org/drawingml/2006/main" noGrp="1"/>
          </p:cNvSpPr>
          <p:nvPr/>
        </p:nvSpPr>
        <p:spPr>
          <a:xfrm xmlns:a="http://schemas.openxmlformats.org/drawingml/2006/main">
            <a:off x="685800" y="3190875"/>
            <a:ext cx="5000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3DF"/>
                </a:solidFill>
                <a:latin typeface="Helvetica Neue"/>
                <a:ea typeface="Helvetica Neue"/>
                <a:cs typeface="Helvetica Neue"/>
              </a:defRPr>
            </a:pPr>
            <a:r>
              <a:rPr sz="2400" b="0">
                <a:solidFill>
                  <a:srgbClr val="FFF3DF"/>
                </a:solidFill>
                <a:latin typeface="Helvetica Neue"/>
                <a:ea typeface="Helvetica Neue"/>
                <a:cs typeface="Helvetica Neue"/>
              </a:rPr>
              <a:t>Earn money. Help guests</a:t>
            </a:r>
          </a:p>
          <a:p xmlns:a="http://schemas.openxmlformats.org/drawingml/2006/main">
            <a:pPr>
              <a:buNone/>
              <a:defRPr sz="2400" b="0">
                <a:solidFill>
                  <a:srgbClr val="FFF3DF"/>
                </a:solidFill>
                <a:latin typeface="Helvetica Neue"/>
                <a:ea typeface="Helvetica Neue"/>
                <a:cs typeface="Helvetica Neue"/>
              </a:defRPr>
            </a:pPr>
            <a:r>
              <a:rPr sz="2400" b="0">
                <a:solidFill>
                  <a:srgbClr val="FFF3DF"/>
                </a:solidFill>
                <a:latin typeface="Helvetica Neue"/>
                <a:ea typeface="Helvetica Neue"/>
                <a:cs typeface="Helvetica Neue"/>
              </a:rPr>
              <a:t>finish both activities.</a:t>
            </a:r>
          </a:p>
        </p:txBody>
      </p:sp>
      <p:sp>
        <p:nvSpPr>
          <p:cNvPr id="4" name="hero-context">
            <a:extLst xmlns:a="http://schemas.openxmlformats.org/drawingml/2006/main">
              <a:ext uri="{FF2B5EF4-FFF2-40B4-BE49-F238E27FC236}">
                <a16:creationId xmlns:a16="http://schemas.microsoft.com/office/drawing/2014/main" id="{B5410057-1CD3-451C-A3A2-8F74C15D93E6}"/>
              </a:ext>
            </a:extLst>
          </p:cNvPr>
          <p:cNvSpPr>
            <a:spLocks xmlns:a="http://schemas.openxmlformats.org/drawingml/2006/main" noGrp="1"/>
          </p:cNvSpPr>
          <p:nvPr/>
        </p:nvSpPr>
        <p:spPr>
          <a:xfrm xmlns:a="http://schemas.openxmlformats.org/drawingml/2006/main">
            <a:off x="685800" y="525780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4A150"/>
                </a:solidFill>
                <a:latin typeface="Helvetica Neue"/>
                <a:ea typeface="Helvetica Neue"/>
                <a:cs typeface="Helvetica Neue"/>
              </a:defRPr>
            </a:pPr>
            <a:r>
              <a:rPr sz="1800" b="0">
                <a:solidFill>
                  <a:srgbClr val="F4A150"/>
                </a:solidFill>
                <a:latin typeface="Helvetica Neue"/>
                <a:ea typeface="Helvetica Neue"/>
                <a:cs typeface="Helvetica Neue"/>
              </a:rPr>
              <a:t>Choose a price and explain it</a:t>
            </a:r>
          </a:p>
          <a:p xmlns:a="http://schemas.openxmlformats.org/drawingml/2006/main">
            <a:pPr>
              <a:buNone/>
              <a:defRPr sz="1800" b="0">
                <a:solidFill>
                  <a:srgbClr val="F4A150"/>
                </a:solidFill>
                <a:latin typeface="Helvetica Neue"/>
                <a:ea typeface="Helvetica Neue"/>
                <a:cs typeface="Helvetica Neue"/>
              </a:defRPr>
            </a:pPr>
            <a:r>
              <a:rPr sz="1800" b="0">
                <a:solidFill>
                  <a:srgbClr val="F4A150"/>
                </a:solidFill>
                <a:latin typeface="Helvetica Neue"/>
                <a:ea typeface="Helvetica Neue"/>
                <a:cs typeface="Helvetica Neue"/>
              </a:rPr>
              <a:t>with Claim, Evidence, Reasoning.</a:t>
            </a:r>
          </a:p>
        </p:txBody>
      </p:sp>
    </p:spTree>
    <p:extLst>
      <p:ext uri="{BB962C8B-B14F-4D97-AF65-F5344CB8AC3E}">
        <p14:creationId xmlns:p14="http://schemas.microsoft.com/office/powerpoint/2010/main" val="522769122"/>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4C4BB3F-12E7-4B83-B2AA-C0C25A7E7875}"/>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182D"/>
                </a:solidFill>
                <a:latin typeface="Helvetica Neue"/>
                <a:ea typeface="Helvetica Neue"/>
                <a:cs typeface="Helvetica Neue"/>
              </a:defRPr>
            </a:defPPr>
          </a:lstStyle>
          <a:p xmlns:a="http://schemas.openxmlformats.org/drawingml/2006/main">
            <a:pPr>
              <a:buNone/>
              <a:defRPr sz="3600" b="1">
                <a:solidFill>
                  <a:srgbClr val="24182D"/>
                </a:solidFill>
                <a:latin typeface="Helvetica Neue"/>
                <a:ea typeface="Helvetica Neue"/>
                <a:cs typeface="Helvetica Neue"/>
              </a:defRPr>
            </a:pPr>
            <a:r>
              <a:rPr sz="3600" b="1">
                <a:solidFill>
                  <a:srgbClr val="24182D"/>
                </a:solidFill>
                <a:latin typeface="Helvetica Neue"/>
                <a:ea typeface="Helvetica Neue"/>
                <a:cs typeface="Helvetica Neue"/>
              </a:rPr>
              <a:t>Two results for each price</a:t>
            </a:r>
          </a:p>
        </p:txBody>
      </p:sp>
      <p:sp>
        <p:nvSpPr>
          <p:cNvPr id="2" name="metric-one">
            <a:extLst xmlns:a="http://schemas.openxmlformats.org/drawingml/2006/main">
              <a:ext uri="{FF2B5EF4-FFF2-40B4-BE49-F238E27FC236}">
                <a16:creationId xmlns:a16="http://schemas.microsoft.com/office/drawing/2014/main" id="{8FE553DE-C3DA-4480-8ABB-536246152637}"/>
              </a:ext>
            </a:extLst>
          </p:cNvPr>
          <p:cNvSpPr>
            <a:spLocks xmlns:a="http://schemas.openxmlformats.org/drawingml/2006/main" noGrp="1"/>
          </p:cNvSpPr>
          <p:nvPr/>
        </p:nvSpPr>
        <p:spPr>
          <a:xfrm xmlns:a="http://schemas.openxmlformats.org/drawingml/2006/main">
            <a:off x="685800" y="16097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182D"/>
                </a:solidFill>
                <a:latin typeface="Helvetica Neue"/>
                <a:ea typeface="Helvetica Neue"/>
                <a:cs typeface="Helvetica Neue"/>
              </a:defRPr>
            </a:defPPr>
          </a:lstStyle>
          <a:p xmlns:a="http://schemas.openxmlformats.org/drawingml/2006/main">
            <a:pPr>
              <a:buNone/>
              <a:defRPr sz="2850" b="1">
                <a:solidFill>
                  <a:srgbClr val="24182D"/>
                </a:solidFill>
                <a:latin typeface="Helvetica Neue"/>
                <a:ea typeface="Helvetica Neue"/>
                <a:cs typeface="Helvetica Neue"/>
              </a:defRPr>
            </a:pPr>
            <a:r>
              <a:rPr sz="2850" b="1">
                <a:solidFill>
                  <a:srgbClr val="24182D"/>
                </a:solidFill>
                <a:latin typeface="Helvetica Neue"/>
                <a:ea typeface="Helvetica Neue"/>
                <a:cs typeface="Helvetica Neue"/>
              </a:rPr>
              <a:t>Average profit</a:t>
            </a:r>
          </a:p>
        </p:txBody>
      </p:sp>
      <p:sp>
        <p:nvSpPr>
          <p:cNvPr id="3" name="profit-definition">
            <a:extLst xmlns:a="http://schemas.openxmlformats.org/drawingml/2006/main">
              <a:ext uri="{FF2B5EF4-FFF2-40B4-BE49-F238E27FC236}">
                <a16:creationId xmlns:a16="http://schemas.microsoft.com/office/drawing/2014/main" id="{25F63E4F-6C86-4EF0-BAD0-BADDA1B1EE95}"/>
              </a:ext>
            </a:extLst>
          </p:cNvPr>
          <p:cNvSpPr>
            <a:spLocks xmlns:a="http://schemas.openxmlformats.org/drawingml/2006/main" noGrp="1"/>
          </p:cNvSpPr>
          <p:nvPr/>
        </p:nvSpPr>
        <p:spPr>
          <a:xfrm xmlns:a="http://schemas.openxmlformats.org/drawingml/2006/main">
            <a:off x="685800" y="2209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332439"/>
                </a:solidFill>
                <a:latin typeface="Helvetica Neue"/>
                <a:ea typeface="Helvetica Neue"/>
                <a:cs typeface="Helvetica Neue"/>
              </a:defRPr>
            </a:defPPr>
          </a:lstStyle>
          <a:p xmlns:a="http://schemas.openxmlformats.org/drawingml/2006/main">
            <a:pPr>
              <a:buNone/>
              <a:defRPr sz="2475" b="0">
                <a:solidFill>
                  <a:srgbClr val="332439"/>
                </a:solidFill>
                <a:latin typeface="Helvetica Neue"/>
                <a:ea typeface="Helvetica Neue"/>
                <a:cs typeface="Helvetica Neue"/>
              </a:defRPr>
            </a:pPr>
            <a:r>
              <a:rPr sz="2475" b="0">
                <a:solidFill>
                  <a:srgbClr val="332439"/>
                </a:solidFill>
                <a:latin typeface="Helvetica Neue"/>
                <a:ea typeface="Helvetica Neue"/>
                <a:cs typeface="Helvetica Neue"/>
              </a:rPr>
              <a:t>Money left after paying the event cost.</a:t>
            </a:r>
          </a:p>
        </p:txBody>
      </p:sp>
      <p:sp>
        <p:nvSpPr>
          <p:cNvPr id="4" name="metric-two">
            <a:extLst xmlns:a="http://schemas.openxmlformats.org/drawingml/2006/main">
              <a:ext uri="{FF2B5EF4-FFF2-40B4-BE49-F238E27FC236}">
                <a16:creationId xmlns:a16="http://schemas.microsoft.com/office/drawing/2014/main" id="{F8FACDFF-E171-4981-9A92-726E4DDD47D7}"/>
              </a:ext>
            </a:extLst>
          </p:cNvPr>
          <p:cNvSpPr>
            <a:spLocks xmlns:a="http://schemas.openxmlformats.org/drawingml/2006/main" noGrp="1"/>
          </p:cNvSpPr>
          <p:nvPr/>
        </p:nvSpPr>
        <p:spPr>
          <a:xfrm xmlns:a="http://schemas.openxmlformats.org/drawingml/2006/main">
            <a:off x="685800" y="33337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182D"/>
                </a:solidFill>
                <a:latin typeface="Helvetica Neue"/>
                <a:ea typeface="Helvetica Neue"/>
                <a:cs typeface="Helvetica Neue"/>
              </a:defRPr>
            </a:defPPr>
          </a:lstStyle>
          <a:p xmlns:a="http://schemas.openxmlformats.org/drawingml/2006/main">
            <a:pPr>
              <a:buNone/>
              <a:defRPr sz="2850" b="1">
                <a:solidFill>
                  <a:srgbClr val="24182D"/>
                </a:solidFill>
                <a:latin typeface="Helvetica Neue"/>
                <a:ea typeface="Helvetica Neue"/>
                <a:cs typeface="Helvetica Neue"/>
              </a:defRPr>
            </a:pPr>
            <a:r>
              <a:rPr sz="2850" b="1">
                <a:solidFill>
                  <a:srgbClr val="24182D"/>
                </a:solidFill>
                <a:latin typeface="Helvetica Neue"/>
                <a:ea typeface="Helvetica Neue"/>
                <a:cs typeface="Helvetica Neue"/>
              </a:rPr>
              <a:t>Guests who finish both activities (%)</a:t>
            </a:r>
          </a:p>
        </p:txBody>
      </p:sp>
      <p:sp>
        <p:nvSpPr>
          <p:cNvPr id="5" name="completion-definition">
            <a:extLst xmlns:a="http://schemas.openxmlformats.org/drawingml/2006/main">
              <a:ext uri="{FF2B5EF4-FFF2-40B4-BE49-F238E27FC236}">
                <a16:creationId xmlns:a16="http://schemas.microsoft.com/office/drawing/2014/main" id="{E46E5B1A-A589-4E73-8C50-6DE0578DDE4B}"/>
              </a:ext>
            </a:extLst>
          </p:cNvPr>
          <p:cNvSpPr>
            <a:spLocks xmlns:a="http://schemas.openxmlformats.org/drawingml/2006/main" noGrp="1"/>
          </p:cNvSpPr>
          <p:nvPr/>
        </p:nvSpPr>
        <p:spPr>
          <a:xfrm xmlns:a="http://schemas.openxmlformats.org/drawingml/2006/main">
            <a:off x="685800" y="40671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332439"/>
                </a:solidFill>
                <a:latin typeface="Helvetica Neue"/>
                <a:ea typeface="Helvetica Neue"/>
                <a:cs typeface="Helvetica Neue"/>
              </a:defRPr>
            </a:defPPr>
          </a:lstStyle>
          <a:p xmlns:a="http://schemas.openxmlformats.org/drawingml/2006/main">
            <a:pPr>
              <a:buNone/>
              <a:defRPr sz="2625" b="0">
                <a:solidFill>
                  <a:srgbClr val="332439"/>
                </a:solidFill>
                <a:latin typeface="Helvetica Neue"/>
                <a:ea typeface="Helvetica Neue"/>
                <a:cs typeface="Helvetica Neue"/>
              </a:defRPr>
            </a:pPr>
            <a:r>
              <a:rPr sz="2625" b="0">
                <a:solidFill>
                  <a:srgbClr val="332439"/>
                </a:solidFill>
                <a:latin typeface="Helvetica Neue"/>
                <a:ea typeface="Helvetica Neue"/>
                <a:cs typeface="Helvetica Neue"/>
              </a:rPr>
              <a:t>Out of every 100 admitted guests,</a:t>
            </a:r>
          </a:p>
          <a:p xmlns:a="http://schemas.openxmlformats.org/drawingml/2006/main">
            <a:pPr>
              <a:buNone/>
              <a:defRPr sz="2625" b="0">
                <a:solidFill>
                  <a:srgbClr val="332439"/>
                </a:solidFill>
                <a:latin typeface="Helvetica Neue"/>
                <a:ea typeface="Helvetica Neue"/>
                <a:cs typeface="Helvetica Neue"/>
              </a:defRPr>
            </a:pPr>
            <a:r>
              <a:rPr sz="2625" b="0">
                <a:solidFill>
                  <a:srgbClr val="332439"/>
                </a:solidFill>
                <a:latin typeface="Helvetica Neue"/>
                <a:ea typeface="Helvetica Neue"/>
                <a:cs typeface="Helvetica Neue"/>
              </a:rPr>
              <a:t>how many finish both activities before closing?</a:t>
            </a:r>
          </a:p>
        </p:txBody>
      </p:sp>
      <p:sp>
        <p:nvSpPr>
          <p:cNvPr id="6" name="completion-example">
            <a:extLst xmlns:a="http://schemas.openxmlformats.org/drawingml/2006/main">
              <a:ext uri="{FF2B5EF4-FFF2-40B4-BE49-F238E27FC236}">
                <a16:creationId xmlns:a16="http://schemas.microsoft.com/office/drawing/2014/main" id="{A918401B-DC55-46DA-8ABF-EB3544EB7295}"/>
              </a:ext>
            </a:extLst>
          </p:cNvPr>
          <p:cNvSpPr>
            <a:spLocks xmlns:a="http://schemas.openxmlformats.org/drawingml/2006/main" noGrp="1"/>
          </p:cNvSpPr>
          <p:nvPr/>
        </p:nvSpPr>
        <p:spPr>
          <a:xfrm xmlns:a="http://schemas.openxmlformats.org/drawingml/2006/main">
            <a:off x="685800" y="54292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182D"/>
                </a:solidFill>
                <a:latin typeface="Helvetica Neue"/>
                <a:ea typeface="Helvetica Neue"/>
                <a:cs typeface="Helvetica Neue"/>
              </a:defRPr>
            </a:defPPr>
          </a:lstStyle>
          <a:p xmlns:a="http://schemas.openxmlformats.org/drawingml/2006/main">
            <a:pPr>
              <a:buNone/>
              <a:defRPr sz="2100" b="1">
                <a:solidFill>
                  <a:srgbClr val="24182D"/>
                </a:solidFill>
                <a:latin typeface="Helvetica Neue"/>
                <a:ea typeface="Helvetica Neue"/>
                <a:cs typeface="Helvetica Neue"/>
              </a:defRPr>
            </a:pPr>
            <a:r>
              <a:rPr sz="2100" b="1">
                <a:solidFill>
                  <a:srgbClr val="24182D"/>
                </a:solidFill>
                <a:latin typeface="Helvetica Neue"/>
                <a:ea typeface="Helvetica Neue"/>
                <a:cs typeface="Helvetica Neue"/>
              </a:rPr>
              <a:t>For example: 80% means 80 out of every 100 guests.</a:t>
            </a:r>
          </a:p>
        </p:txBody>
      </p:sp>
      <p:sp>
        <p:nvSpPr>
          <p:cNvPr id="7" name="footer">
            <a:extLst xmlns:a="http://schemas.openxmlformats.org/drawingml/2006/main">
              <a:ext uri="{FF2B5EF4-FFF2-40B4-BE49-F238E27FC236}">
                <a16:creationId xmlns:a16="http://schemas.microsoft.com/office/drawing/2014/main" id="{B98DECFA-3E0A-45B3-B78E-B4305CDE78C3}"/>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55C65"/>
                </a:solidFill>
                <a:latin typeface="Helvetica Neue"/>
                <a:ea typeface="Helvetica Neue"/>
                <a:cs typeface="Helvetica Neue"/>
              </a:defRPr>
            </a:defPPr>
          </a:lstStyle>
          <a:p xmlns:a="http://schemas.openxmlformats.org/drawingml/2006/main">
            <a:pPr>
              <a:buNone/>
              <a:defRPr sz="1500" b="0">
                <a:solidFill>
                  <a:srgbClr val="655C65"/>
                </a:solidFill>
                <a:latin typeface="Helvetica Neue"/>
                <a:ea typeface="Helvetica Neue"/>
                <a:cs typeface="Helvetica Neue"/>
              </a:defRPr>
            </a:pPr>
            <a:r>
              <a:rPr sz="1500" b="0">
                <a:solidFill>
                  <a:srgbClr val="655C65"/>
                </a:solidFill>
                <a:latin typeface="Helvetica Neue"/>
                <a:ea typeface="Helvetica Neue"/>
                <a:cs typeface="Helvetica Neue"/>
              </a:rPr>
              <a:t>Both activities: </a:t>
            </a:r>
            <a:r>
              <a:rPr sz="1500" b="0">
                <a:solidFill>
                  <a:srgbClr val="655C65"/>
                </a:solidFill>
                <a:latin typeface="Helvetica Neue"/>
                <a:ea typeface="Helvetica Neue"/>
                <a:cs typeface="Helvetica Neue"/>
              </a:rPr>
              <a:t>Costume House</a:t>
            </a:r>
            <a:r>
              <a:rPr sz="1500" b="0">
                <a:solidFill>
                  <a:srgbClr val="655C65"/>
                </a:solidFill>
                <a:latin typeface="Helvetica Neue"/>
                <a:ea typeface="Helvetica Neue"/>
                <a:cs typeface="Helvetica Neue"/>
              </a:rPr>
              <a:t> and Pumpkin House. Use the computer’s averages.</a:t>
            </a:r>
          </a:p>
        </p:txBody>
      </p:sp>
    </p:spTree>
    <p:extLst>
      <p:ext uri="{BB962C8B-B14F-4D97-AF65-F5344CB8AC3E}">
        <p14:creationId xmlns:p14="http://schemas.microsoft.com/office/powerpoint/2010/main" val="1450081393"/>
      </p:ext>
    </p:extLst>
  </p:cSld>
</p:sld>
</file>

<file path=ppt/slides/slide3.xml><?xml version="1.0" encoding="utf-8"?>
<p:sld xmlns:p="http://schemas.openxmlformats.org/presentationml/2006/main">
  <p:cSld>
    <p:bg>
      <p:bgPr>
        <a:solidFill xmlns:a="http://schemas.openxmlformats.org/drawingml/2006/main">
          <a:srgbClr val="24182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4F428A6-E5FA-422B-9D1E-48B1A98FA9CF}"/>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3DF"/>
                </a:solidFill>
                <a:latin typeface="Helvetica Neue"/>
                <a:ea typeface="Helvetica Neue"/>
                <a:cs typeface="Helvetica Neue"/>
              </a:defRPr>
            </a:defPPr>
          </a:lstStyle>
          <a:p xmlns:a="http://schemas.openxmlformats.org/drawingml/2006/main">
            <a:pPr>
              <a:buNone/>
              <a:defRPr sz="3600" b="1">
                <a:solidFill>
                  <a:srgbClr val="FFF3DF"/>
                </a:solidFill>
                <a:latin typeface="Helvetica Neue"/>
                <a:ea typeface="Helvetica Neue"/>
                <a:cs typeface="Helvetica Neue"/>
              </a:defRPr>
            </a:pPr>
            <a:r>
              <a:rPr sz="3600" b="1">
                <a:solidFill>
                  <a:srgbClr val="FFF3DF"/>
                </a:solidFill>
                <a:latin typeface="Helvetica Neue"/>
                <a:ea typeface="Helvetica Neue"/>
                <a:cs typeface="Helvetica Neue"/>
              </a:rPr>
              <a:t>Claim, Evidence, Reasoning</a:t>
            </a:r>
          </a:p>
        </p:txBody>
      </p:sp>
      <p:sp>
        <p:nvSpPr>
          <p:cNvPr id="2" name="cer-Claim">
            <a:extLst xmlns:a="http://schemas.openxmlformats.org/drawingml/2006/main">
              <a:ext uri="{FF2B5EF4-FFF2-40B4-BE49-F238E27FC236}">
                <a16:creationId xmlns:a16="http://schemas.microsoft.com/office/drawing/2014/main" id="{DAC0C53F-B485-4141-8211-16CBB6F40387}"/>
              </a:ext>
            </a:extLst>
          </p:cNvPr>
          <p:cNvSpPr>
            <a:spLocks xmlns:a="http://schemas.openxmlformats.org/drawingml/2006/main" noGrp="1"/>
          </p:cNvSpPr>
          <p:nvPr/>
        </p:nvSpPr>
        <p:spPr>
          <a:xfrm xmlns:a="http://schemas.openxmlformats.org/drawingml/2006/main">
            <a:off x="685800" y="1762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4A150"/>
                </a:solidFill>
                <a:latin typeface="Helvetica Neue"/>
                <a:ea typeface="Helvetica Neue"/>
                <a:cs typeface="Helvetica Neue"/>
              </a:defRPr>
            </a:defPPr>
          </a:lstStyle>
          <a:p xmlns:a="http://schemas.openxmlformats.org/drawingml/2006/main">
            <a:pPr>
              <a:buNone/>
              <a:defRPr sz="2550" b="1">
                <a:solidFill>
                  <a:srgbClr val="F4A150"/>
                </a:solidFill>
                <a:latin typeface="Helvetica Neue"/>
                <a:ea typeface="Helvetica Neue"/>
                <a:cs typeface="Helvetica Neue"/>
              </a:defRPr>
            </a:pPr>
            <a:r>
              <a:rPr sz="2550" b="1">
                <a:solidFill>
                  <a:srgbClr val="F4A150"/>
                </a:solidFill>
                <a:latin typeface="Helvetica Neue"/>
                <a:ea typeface="Helvetica Neue"/>
                <a:cs typeface="Helvetica Neue"/>
              </a:rPr>
              <a:t>Claim</a:t>
            </a:r>
          </a:p>
        </p:txBody>
      </p:sp>
      <p:sp>
        <p:nvSpPr>
          <p:cNvPr id="3" name="question-Claim">
            <a:extLst xmlns:a="http://schemas.openxmlformats.org/drawingml/2006/main">
              <a:ext uri="{FF2B5EF4-FFF2-40B4-BE49-F238E27FC236}">
                <a16:creationId xmlns:a16="http://schemas.microsoft.com/office/drawing/2014/main" id="{AAD361AD-C587-4764-87C8-EBBDF25E2E28}"/>
              </a:ext>
            </a:extLst>
          </p:cNvPr>
          <p:cNvSpPr>
            <a:spLocks xmlns:a="http://schemas.openxmlformats.org/drawingml/2006/main" noGrp="1"/>
          </p:cNvSpPr>
          <p:nvPr/>
        </p:nvSpPr>
        <p:spPr>
          <a:xfrm xmlns:a="http://schemas.openxmlformats.org/drawingml/2006/main">
            <a:off x="685800" y="22860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FFF3DF"/>
                </a:solidFill>
                <a:latin typeface="Helvetica Neue"/>
                <a:ea typeface="Helvetica Neue"/>
                <a:cs typeface="Helvetica Neue"/>
              </a:defRPr>
            </a:defPPr>
          </a:lstStyle>
          <a:p xmlns:a="http://schemas.openxmlformats.org/drawingml/2006/main">
            <a:pPr>
              <a:buNone/>
              <a:defRPr sz="2475" b="0">
                <a:solidFill>
                  <a:srgbClr val="FFF3DF"/>
                </a:solidFill>
                <a:latin typeface="Helvetica Neue"/>
                <a:ea typeface="Helvetica Neue"/>
                <a:cs typeface="Helvetica Neue"/>
              </a:defRPr>
            </a:pPr>
            <a:r>
              <a:rPr sz="2475" b="0">
                <a:solidFill>
                  <a:srgbClr val="FFF3DF"/>
                </a:solidFill>
                <a:latin typeface="Helvetica Neue"/>
                <a:ea typeface="Helvetica Neue"/>
                <a:cs typeface="Helvetica Neue"/>
              </a:rPr>
              <a:t>What should we choose?</a:t>
            </a:r>
          </a:p>
        </p:txBody>
      </p:sp>
      <p:sp>
        <p:nvSpPr>
          <p:cNvPr id="4" name="cer-Evidence">
            <a:extLst xmlns:a="http://schemas.openxmlformats.org/drawingml/2006/main">
              <a:ext uri="{FF2B5EF4-FFF2-40B4-BE49-F238E27FC236}">
                <a16:creationId xmlns:a16="http://schemas.microsoft.com/office/drawing/2014/main" id="{FFBA2119-A29B-47D1-8F01-447C002AB2EB}"/>
              </a:ext>
            </a:extLst>
          </p:cNvPr>
          <p:cNvSpPr>
            <a:spLocks xmlns:a="http://schemas.openxmlformats.org/drawingml/2006/main" noGrp="1"/>
          </p:cNvSpPr>
          <p:nvPr/>
        </p:nvSpPr>
        <p:spPr>
          <a:xfrm xmlns:a="http://schemas.openxmlformats.org/drawingml/2006/main">
            <a:off x="685800" y="3143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4A150"/>
                </a:solidFill>
                <a:latin typeface="Helvetica Neue"/>
                <a:ea typeface="Helvetica Neue"/>
                <a:cs typeface="Helvetica Neue"/>
              </a:defRPr>
            </a:defPPr>
          </a:lstStyle>
          <a:p xmlns:a="http://schemas.openxmlformats.org/drawingml/2006/main">
            <a:pPr>
              <a:buNone/>
              <a:defRPr sz="2550" b="1">
                <a:solidFill>
                  <a:srgbClr val="F4A150"/>
                </a:solidFill>
                <a:latin typeface="Helvetica Neue"/>
                <a:ea typeface="Helvetica Neue"/>
                <a:cs typeface="Helvetica Neue"/>
              </a:defRPr>
            </a:pPr>
            <a:r>
              <a:rPr sz="2550" b="1">
                <a:solidFill>
                  <a:srgbClr val="F4A150"/>
                </a:solidFill>
                <a:latin typeface="Helvetica Neue"/>
                <a:ea typeface="Helvetica Neue"/>
                <a:cs typeface="Helvetica Neue"/>
              </a:rPr>
              <a:t>Evidence</a:t>
            </a:r>
          </a:p>
        </p:txBody>
      </p:sp>
      <p:sp>
        <p:nvSpPr>
          <p:cNvPr id="5" name="question-Evidence">
            <a:extLst xmlns:a="http://schemas.openxmlformats.org/drawingml/2006/main">
              <a:ext uri="{FF2B5EF4-FFF2-40B4-BE49-F238E27FC236}">
                <a16:creationId xmlns:a16="http://schemas.microsoft.com/office/drawing/2014/main" id="{BB4153E3-A11F-4BA2-AF47-A870B8D7A90D}"/>
              </a:ext>
            </a:extLst>
          </p:cNvPr>
          <p:cNvSpPr>
            <a:spLocks xmlns:a="http://schemas.openxmlformats.org/drawingml/2006/main" noGrp="1"/>
          </p:cNvSpPr>
          <p:nvPr/>
        </p:nvSpPr>
        <p:spPr>
          <a:xfrm xmlns:a="http://schemas.openxmlformats.org/drawingml/2006/main">
            <a:off x="685800" y="36671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FFF3DF"/>
                </a:solidFill>
                <a:latin typeface="Helvetica Neue"/>
                <a:ea typeface="Helvetica Neue"/>
                <a:cs typeface="Helvetica Neue"/>
              </a:defRPr>
            </a:defPPr>
          </a:lstStyle>
          <a:p xmlns:a="http://schemas.openxmlformats.org/drawingml/2006/main">
            <a:pPr>
              <a:buNone/>
              <a:defRPr sz="2475" b="0">
                <a:solidFill>
                  <a:srgbClr val="FFF3DF"/>
                </a:solidFill>
                <a:latin typeface="Helvetica Neue"/>
                <a:ea typeface="Helvetica Neue"/>
                <a:cs typeface="Helvetica Neue"/>
              </a:defRPr>
            </a:pPr>
            <a:r>
              <a:rPr sz="2475" b="0">
                <a:solidFill>
                  <a:srgbClr val="FFF3DF"/>
                </a:solidFill>
                <a:latin typeface="Helvetica Neue"/>
                <a:ea typeface="Helvetica Neue"/>
                <a:cs typeface="Helvetica Neue"/>
              </a:rPr>
              <a:t>What information supports that choice?</a:t>
            </a:r>
          </a:p>
        </p:txBody>
      </p:sp>
      <p:sp>
        <p:nvSpPr>
          <p:cNvPr id="6" name="cer-Reasoning">
            <a:extLst xmlns:a="http://schemas.openxmlformats.org/drawingml/2006/main">
              <a:ext uri="{FF2B5EF4-FFF2-40B4-BE49-F238E27FC236}">
                <a16:creationId xmlns:a16="http://schemas.microsoft.com/office/drawing/2014/main" id="{15229174-6012-410A-941F-8819038EF6A9}"/>
              </a:ext>
            </a:extLst>
          </p:cNvPr>
          <p:cNvSpPr>
            <a:spLocks xmlns:a="http://schemas.openxmlformats.org/drawingml/2006/main" noGrp="1"/>
          </p:cNvSpPr>
          <p:nvPr/>
        </p:nvSpPr>
        <p:spPr>
          <a:xfrm xmlns:a="http://schemas.openxmlformats.org/drawingml/2006/main">
            <a:off x="685800" y="45243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4A150"/>
                </a:solidFill>
                <a:latin typeface="Helvetica Neue"/>
                <a:ea typeface="Helvetica Neue"/>
                <a:cs typeface="Helvetica Neue"/>
              </a:defRPr>
            </a:defPPr>
          </a:lstStyle>
          <a:p xmlns:a="http://schemas.openxmlformats.org/drawingml/2006/main">
            <a:pPr>
              <a:buNone/>
              <a:defRPr sz="2550" b="1">
                <a:solidFill>
                  <a:srgbClr val="F4A150"/>
                </a:solidFill>
                <a:latin typeface="Helvetica Neue"/>
                <a:ea typeface="Helvetica Neue"/>
                <a:cs typeface="Helvetica Neue"/>
              </a:defRPr>
            </a:pPr>
            <a:r>
              <a:rPr sz="2550" b="1">
                <a:solidFill>
                  <a:srgbClr val="F4A150"/>
                </a:solidFill>
                <a:latin typeface="Helvetica Neue"/>
                <a:ea typeface="Helvetica Neue"/>
                <a:cs typeface="Helvetica Neue"/>
              </a:rPr>
              <a:t>Reasoning</a:t>
            </a:r>
          </a:p>
        </p:txBody>
      </p:sp>
      <p:sp>
        <p:nvSpPr>
          <p:cNvPr id="7" name="question-Reasoning">
            <a:extLst xmlns:a="http://schemas.openxmlformats.org/drawingml/2006/main">
              <a:ext uri="{FF2B5EF4-FFF2-40B4-BE49-F238E27FC236}">
                <a16:creationId xmlns:a16="http://schemas.microsoft.com/office/drawing/2014/main" id="{2767134C-B70F-4F02-BBF9-86F30A77628F}"/>
              </a:ext>
            </a:extLst>
          </p:cNvPr>
          <p:cNvSpPr>
            <a:spLocks xmlns:a="http://schemas.openxmlformats.org/drawingml/2006/main" noGrp="1"/>
          </p:cNvSpPr>
          <p:nvPr/>
        </p:nvSpPr>
        <p:spPr>
          <a:xfrm xmlns:a="http://schemas.openxmlformats.org/drawingml/2006/main">
            <a:off x="685800" y="50482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FFF3DF"/>
                </a:solidFill>
                <a:latin typeface="Helvetica Neue"/>
                <a:ea typeface="Helvetica Neue"/>
                <a:cs typeface="Helvetica Neue"/>
              </a:defRPr>
            </a:defPPr>
          </a:lstStyle>
          <a:p xmlns:a="http://schemas.openxmlformats.org/drawingml/2006/main">
            <a:pPr>
              <a:buNone/>
              <a:defRPr sz="2475" b="0">
                <a:solidFill>
                  <a:srgbClr val="FFF3DF"/>
                </a:solidFill>
                <a:latin typeface="Helvetica Neue"/>
                <a:ea typeface="Helvetica Neue"/>
                <a:cs typeface="Helvetica Neue"/>
              </a:defRPr>
            </a:pPr>
            <a:r>
              <a:rPr sz="2475" b="0">
                <a:solidFill>
                  <a:srgbClr val="FFF3DF"/>
                </a:solidFill>
                <a:latin typeface="Helvetica Neue"/>
                <a:ea typeface="Helvetica Neue"/>
                <a:cs typeface="Helvetica Neue"/>
              </a:rPr>
              <a:t>Why does the evidence make this a good choice?</a:t>
            </a:r>
          </a:p>
        </p:txBody>
      </p:sp>
      <p:sp>
        <p:nvSpPr>
          <p:cNvPr id="8" name="footer">
            <a:extLst xmlns:a="http://schemas.openxmlformats.org/drawingml/2006/main">
              <a:ext uri="{FF2B5EF4-FFF2-40B4-BE49-F238E27FC236}">
                <a16:creationId xmlns:a16="http://schemas.microsoft.com/office/drawing/2014/main" id="{9A185D45-F250-469B-B9DC-3FC5B412667E}"/>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C8B4D1"/>
                </a:solidFill>
                <a:latin typeface="Helvetica Neue"/>
                <a:ea typeface="Helvetica Neue"/>
                <a:cs typeface="Helvetica Neue"/>
              </a:defRPr>
            </a:defPPr>
          </a:lstStyle>
          <a:p xmlns:a="http://schemas.openxmlformats.org/drawingml/2006/main">
            <a:pPr>
              <a:buNone/>
              <a:defRPr sz="1500" b="0">
                <a:solidFill>
                  <a:srgbClr val="C8B4D1"/>
                </a:solidFill>
                <a:latin typeface="Helvetica Neue"/>
                <a:ea typeface="Helvetica Neue"/>
                <a:cs typeface="Helvetica Neue"/>
              </a:defRPr>
            </a:pPr>
            <a:r>
              <a:rPr sz="1500" b="0">
                <a:solidFill>
                  <a:srgbClr val="C8B4D1"/>
                </a:solidFill>
                <a:latin typeface="Helvetica Neue"/>
                <a:ea typeface="Helvetica Neue"/>
                <a:cs typeface="Helvetica Neue"/>
              </a:rPr>
              <a:t>A strong decision uses both numbers and explains the trade-off.</a:t>
            </a:r>
          </a:p>
        </p:txBody>
      </p:sp>
    </p:spTree>
    <p:extLst>
      <p:ext uri="{BB962C8B-B14F-4D97-AF65-F5344CB8AC3E}">
        <p14:creationId xmlns:p14="http://schemas.microsoft.com/office/powerpoint/2010/main" val="1697914968"/>
      </p:ext>
    </p:extLst>
  </p:cSld>
</p:sld>
</file>

<file path=ppt/slides/slide4.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F28DA00-BF64-4305-A2F9-BBDE3B58FB98}"/>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182D"/>
                </a:solidFill>
                <a:latin typeface="Helvetica Neue"/>
                <a:ea typeface="Helvetica Neue"/>
                <a:cs typeface="Helvetica Neue"/>
              </a:defRPr>
            </a:defPPr>
          </a:lstStyle>
          <a:p xmlns:a="http://schemas.openxmlformats.org/drawingml/2006/main">
            <a:pPr>
              <a:buNone/>
              <a:defRPr sz="3600" b="1">
                <a:solidFill>
                  <a:srgbClr val="24182D"/>
                </a:solidFill>
                <a:latin typeface="Helvetica Neue"/>
                <a:ea typeface="Helvetica Neue"/>
                <a:cs typeface="Helvetica Neue"/>
              </a:defRPr>
            </a:pPr>
            <a:r>
              <a:rPr sz="3600" b="1">
                <a:solidFill>
                  <a:srgbClr val="24182D"/>
                </a:solidFill>
                <a:latin typeface="Helvetica Neue"/>
                <a:ea typeface="Helvetica Neue"/>
                <a:cs typeface="Helvetica Neue"/>
              </a:rPr>
              <a:t>What is your minimum?</a:t>
            </a:r>
          </a:p>
        </p:txBody>
      </p:sp>
      <p:sp>
        <p:nvSpPr>
          <p:cNvPr id="2" name="minimum-frame">
            <a:extLst xmlns:a="http://schemas.openxmlformats.org/drawingml/2006/main">
              <a:ext uri="{FF2B5EF4-FFF2-40B4-BE49-F238E27FC236}">
                <a16:creationId xmlns:a16="http://schemas.microsoft.com/office/drawing/2014/main" id="{35E2FBB4-B4C7-41D1-9D35-0D593E647913}"/>
              </a:ext>
            </a:extLst>
          </p:cNvPr>
          <p:cNvSpPr>
            <a:spLocks xmlns:a="http://schemas.openxmlformats.org/drawingml/2006/main" noGrp="1"/>
          </p:cNvSpPr>
          <p:nvPr/>
        </p:nvSpPr>
        <p:spPr>
          <a:xfrm xmlns:a="http://schemas.openxmlformats.org/drawingml/2006/main">
            <a:off x="685800" y="17526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4182D"/>
                </a:solidFill>
                <a:latin typeface="Helvetica Neue"/>
                <a:ea typeface="Helvetica Neue"/>
                <a:cs typeface="Helvetica Neue"/>
              </a:defRPr>
            </a:defPPr>
          </a:lstStyle>
          <a:p xmlns:a="http://schemas.openxmlformats.org/drawingml/2006/main">
            <a:pPr>
              <a:buNone/>
              <a:defRPr sz="3150" b="1">
                <a:solidFill>
                  <a:srgbClr val="24182D"/>
                </a:solidFill>
                <a:latin typeface="Helvetica Neue"/>
                <a:ea typeface="Helvetica Neue"/>
                <a:cs typeface="Helvetica Neue"/>
              </a:defRPr>
            </a:pPr>
            <a:r>
              <a:rPr sz="3150" b="1">
                <a:solidFill>
                  <a:srgbClr val="24182D"/>
                </a:solidFill>
                <a:latin typeface="Helvetica Neue"/>
                <a:ea typeface="Helvetica Neue"/>
                <a:cs typeface="Helvetica Neue"/>
              </a:rPr>
              <a:t>At least ____% should finish both activities.</a:t>
            </a:r>
          </a:p>
        </p:txBody>
      </p:sp>
      <p:sp>
        <p:nvSpPr>
          <p:cNvPr id="3" name="minimum-meaning">
            <a:extLst xmlns:a="http://schemas.openxmlformats.org/drawingml/2006/main">
              <a:ext uri="{FF2B5EF4-FFF2-40B4-BE49-F238E27FC236}">
                <a16:creationId xmlns:a16="http://schemas.microsoft.com/office/drawing/2014/main" id="{4A8EC30C-9F38-4E37-9BFA-6BEDD81387CA}"/>
              </a:ext>
            </a:extLst>
          </p:cNvPr>
          <p:cNvSpPr>
            <a:spLocks xmlns:a="http://schemas.openxmlformats.org/drawingml/2006/main" noGrp="1"/>
          </p:cNvSpPr>
          <p:nvPr/>
        </p:nvSpPr>
        <p:spPr>
          <a:xfrm xmlns:a="http://schemas.openxmlformats.org/drawingml/2006/main">
            <a:off x="685800" y="25336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55C65"/>
                </a:solidFill>
                <a:latin typeface="Helvetica Neue"/>
                <a:ea typeface="Helvetica Neue"/>
                <a:cs typeface="Helvetica Neue"/>
              </a:defRPr>
            </a:defPPr>
          </a:lstStyle>
          <a:p xmlns:a="http://schemas.openxmlformats.org/drawingml/2006/main">
            <a:pPr>
              <a:buNone/>
              <a:defRPr sz="2100" b="0">
                <a:solidFill>
                  <a:srgbClr val="655C65"/>
                </a:solidFill>
                <a:latin typeface="Helvetica Neue"/>
                <a:ea typeface="Helvetica Neue"/>
                <a:cs typeface="Helvetica Neue"/>
              </a:defRPr>
            </a:pPr>
            <a:r>
              <a:rPr sz="2100" b="0">
                <a:solidFill>
                  <a:srgbClr val="655C65"/>
                </a:solidFill>
                <a:latin typeface="Helvetica Neue"/>
                <a:ea typeface="Helvetica Neue"/>
                <a:cs typeface="Helvetica Neue"/>
              </a:rPr>
              <a:t>That means at least ____ out of every 100 admitted guests.</a:t>
            </a:r>
          </a:p>
        </p:txBody>
      </p:sp>
      <p:sp>
        <p:nvSpPr>
          <p:cNvPr id="4" name="minimum-reason">
            <a:extLst xmlns:a="http://schemas.openxmlformats.org/drawingml/2006/main">
              <a:ext uri="{FF2B5EF4-FFF2-40B4-BE49-F238E27FC236}">
                <a16:creationId xmlns:a16="http://schemas.microsoft.com/office/drawing/2014/main" id="{BFF1C880-C00C-4C0C-B683-73731C7A9583}"/>
              </a:ext>
            </a:extLst>
          </p:cNvPr>
          <p:cNvSpPr>
            <a:spLocks xmlns:a="http://schemas.openxmlformats.org/drawingml/2006/main" noGrp="1"/>
          </p:cNvSpPr>
          <p:nvPr/>
        </p:nvSpPr>
        <p:spPr>
          <a:xfrm xmlns:a="http://schemas.openxmlformats.org/drawingml/2006/main">
            <a:off x="685800" y="3333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332439"/>
                </a:solidFill>
                <a:latin typeface="Helvetica Neue"/>
                <a:ea typeface="Helvetica Neue"/>
                <a:cs typeface="Helvetica Neue"/>
              </a:defRPr>
            </a:defPPr>
          </a:lstStyle>
          <a:p xmlns:a="http://schemas.openxmlformats.org/drawingml/2006/main">
            <a:pPr>
              <a:buNone/>
              <a:defRPr sz="2550" b="0">
                <a:solidFill>
                  <a:srgbClr val="332439"/>
                </a:solidFill>
                <a:latin typeface="Helvetica Neue"/>
                <a:ea typeface="Helvetica Neue"/>
                <a:cs typeface="Helvetica Neue"/>
              </a:defRPr>
            </a:pPr>
            <a:r>
              <a:rPr sz="2550" b="0">
                <a:solidFill>
                  <a:srgbClr val="332439"/>
                </a:solidFill>
                <a:latin typeface="Helvetica Neue"/>
                <a:ea typeface="Helvetica Neue"/>
                <a:cs typeface="Helvetica Neue"/>
              </a:rPr>
              <a:t>We chose this minimum because ______________.</a:t>
            </a:r>
          </a:p>
        </p:txBody>
      </p:sp>
      <p:sp>
        <p:nvSpPr>
          <p:cNvPr id="5" name="decision-rule">
            <a:extLst xmlns:a="http://schemas.openxmlformats.org/drawingml/2006/main">
              <a:ext uri="{FF2B5EF4-FFF2-40B4-BE49-F238E27FC236}">
                <a16:creationId xmlns:a16="http://schemas.microsoft.com/office/drawing/2014/main" id="{6D6926A7-F542-4558-A72C-0D70551630FB}"/>
              </a:ext>
            </a:extLst>
          </p:cNvPr>
          <p:cNvSpPr>
            <a:spLocks xmlns:a="http://schemas.openxmlformats.org/drawingml/2006/main" noGrp="1"/>
          </p:cNvSpPr>
          <p:nvPr/>
        </p:nvSpPr>
        <p:spPr>
          <a:xfrm xmlns:a="http://schemas.openxmlformats.org/drawingml/2006/main">
            <a:off x="685800" y="4314825"/>
            <a:ext cx="108204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24182D"/>
                </a:solidFill>
                <a:latin typeface="Helvetica Neue"/>
                <a:ea typeface="Helvetica Neue"/>
                <a:cs typeface="Helvetica Neue"/>
              </a:defRPr>
            </a:defPPr>
          </a:lstStyle>
          <a:p xmlns:a="http://schemas.openxmlformats.org/drawingml/2006/main">
            <a:pPr>
              <a:buNone/>
              <a:defRPr sz="2775" b="1">
                <a:solidFill>
                  <a:srgbClr val="24182D"/>
                </a:solidFill>
                <a:latin typeface="Helvetica Neue"/>
                <a:ea typeface="Helvetica Neue"/>
                <a:cs typeface="Helvetica Neue"/>
              </a:defRPr>
            </a:pPr>
            <a:r>
              <a:rPr sz="2775" b="1">
                <a:solidFill>
                  <a:srgbClr val="24182D"/>
                </a:solidFill>
                <a:latin typeface="Helvetica Neue"/>
                <a:ea typeface="Helvetica Neue"/>
                <a:cs typeface="Helvetica Neue"/>
              </a:rPr>
              <a:t>Compare prices that meet your minimum.</a:t>
            </a:r>
          </a:p>
          <a:p xmlns:a="http://schemas.openxmlformats.org/drawingml/2006/main">
            <a:pPr>
              <a:buNone/>
              <a:defRPr sz="2775" b="1">
                <a:solidFill>
                  <a:srgbClr val="24182D"/>
                </a:solidFill>
                <a:latin typeface="Helvetica Neue"/>
                <a:ea typeface="Helvetica Neue"/>
                <a:cs typeface="Helvetica Neue"/>
              </a:defRPr>
            </a:pPr>
            <a:r>
              <a:rPr sz="2775" b="1">
                <a:solidFill>
                  <a:srgbClr val="24182D"/>
                </a:solidFill>
                <a:latin typeface="Helvetica Neue"/>
                <a:ea typeface="Helvetica Neue"/>
                <a:cs typeface="Helvetica Neue"/>
              </a:rPr>
              <a:t>Among those, look for higher average profit.</a:t>
            </a:r>
          </a:p>
        </p:txBody>
      </p:sp>
      <p:sp>
        <p:nvSpPr>
          <p:cNvPr id="6" name="footer">
            <a:extLst xmlns:a="http://schemas.openxmlformats.org/drawingml/2006/main">
              <a:ext uri="{FF2B5EF4-FFF2-40B4-BE49-F238E27FC236}">
                <a16:creationId xmlns:a16="http://schemas.microsoft.com/office/drawing/2014/main" id="{C78D935C-226F-4821-BDD2-3F39F7E537BA}"/>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55C65"/>
                </a:solidFill>
                <a:latin typeface="Helvetica Neue"/>
                <a:ea typeface="Helvetica Neue"/>
                <a:cs typeface="Helvetica Neue"/>
              </a:defRPr>
            </a:defPPr>
          </a:lstStyle>
          <a:p xmlns:a="http://schemas.openxmlformats.org/drawingml/2006/main">
            <a:pPr>
              <a:buNone/>
              <a:defRPr sz="1500" b="0">
                <a:solidFill>
                  <a:srgbClr val="655C65"/>
                </a:solidFill>
                <a:latin typeface="Helvetica Neue"/>
                <a:ea typeface="Helvetica Neue"/>
                <a:cs typeface="Helvetica Neue"/>
              </a:defRPr>
            </a:pPr>
            <a:r>
              <a:rPr sz="1500" b="0">
                <a:solidFill>
                  <a:srgbClr val="655C65"/>
                </a:solidFill>
                <a:latin typeface="Helvetica Neue"/>
                <a:ea typeface="Helvetica Neue"/>
                <a:cs typeface="Helvetica Neue"/>
              </a:rPr>
              <a:t>Choose a whole-percent minimum first. Equal to the minimum counts as meeting it.</a:t>
            </a:r>
          </a:p>
        </p:txBody>
      </p:sp>
    </p:spTree>
    <p:extLst>
      <p:ext uri="{BB962C8B-B14F-4D97-AF65-F5344CB8AC3E}">
        <p14:creationId xmlns:p14="http://schemas.microsoft.com/office/powerpoint/2010/main" val="1361307654"/>
      </p:ext>
    </p:extLst>
  </p:cSld>
</p:sld>
</file>

<file path=ppt/slides/slide5.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63FEBCF-D807-4BC5-8098-F217B7FF4AD3}"/>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182D"/>
                </a:solidFill>
                <a:latin typeface="Helvetica Neue"/>
                <a:ea typeface="Helvetica Neue"/>
                <a:cs typeface="Helvetica Neue"/>
              </a:defRPr>
            </a:defPPr>
          </a:lstStyle>
          <a:p xmlns:a="http://schemas.openxmlformats.org/drawingml/2006/main">
            <a:pPr>
              <a:buNone/>
              <a:defRPr sz="3600" b="1">
                <a:solidFill>
                  <a:srgbClr val="24182D"/>
                </a:solidFill>
                <a:latin typeface="Helvetica Neue"/>
                <a:ea typeface="Helvetica Neue"/>
                <a:cs typeface="Helvetica Neue"/>
              </a:defRPr>
            </a:pPr>
            <a:r>
              <a:rPr sz="3600" b="1">
                <a:solidFill>
                  <a:srgbClr val="24182D"/>
                </a:solidFill>
                <a:latin typeface="Helvetica Neue"/>
                <a:ea typeface="Helvetica Neue"/>
                <a:cs typeface="Helvetica Neue"/>
              </a:rPr>
              <a:t>Information for your decision</a:t>
            </a:r>
          </a:p>
        </p:txBody>
      </p:sp>
      <p:sp>
        <p:nvSpPr>
          <p:cNvPr id="2" name="table-prompt">
            <a:extLst xmlns:a="http://schemas.openxmlformats.org/drawingml/2006/main">
              <a:ext uri="{FF2B5EF4-FFF2-40B4-BE49-F238E27FC236}">
                <a16:creationId xmlns:a16="http://schemas.microsoft.com/office/drawing/2014/main" id="{B4689C5D-9332-4C93-9133-42C233DB9BE5}"/>
              </a:ext>
            </a:extLst>
          </p:cNvPr>
          <p:cNvSpPr>
            <a:spLocks xmlns:a="http://schemas.openxmlformats.org/drawingml/2006/main" noGrp="1"/>
          </p:cNvSpPr>
          <p:nvPr/>
        </p:nvSpPr>
        <p:spPr>
          <a:xfrm xmlns:a="http://schemas.openxmlformats.org/drawingml/2006/main">
            <a:off x="685800" y="14668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182D"/>
                </a:solidFill>
                <a:latin typeface="Helvetica Neue"/>
                <a:ea typeface="Helvetica Neue"/>
                <a:cs typeface="Helvetica Neue"/>
              </a:defRPr>
            </a:defPPr>
          </a:lstStyle>
          <a:p xmlns:a="http://schemas.openxmlformats.org/drawingml/2006/main">
            <a:pPr>
              <a:buNone/>
              <a:defRPr sz="2400" b="1">
                <a:solidFill>
                  <a:srgbClr val="24182D"/>
                </a:solidFill>
                <a:latin typeface="Helvetica Neue"/>
                <a:ea typeface="Helvetica Neue"/>
                <a:cs typeface="Helvetica Neue"/>
              </a:defRPr>
            </a:pPr>
            <a:r>
              <a:rPr sz="2400" b="1">
                <a:solidFill>
                  <a:srgbClr val="24182D"/>
                </a:solidFill>
                <a:latin typeface="Helvetica Neue"/>
                <a:ea typeface="Helvetica Neue"/>
                <a:cs typeface="Helvetica Neue"/>
              </a:rPr>
              <a:t>Which prices meet your group’s minimum?</a:t>
            </a:r>
          </a:p>
        </p:txBody>
      </p:sp>
      <p:graphicFrame>
        <p:nvGraphicFramePr>
          <p:cNvPr id="3" name="">
            <a:extLst xmlns:a="http://schemas.openxmlformats.org/drawingml/2006/main">
              <a:ext uri="{FF2B5EF4-FFF2-40B4-BE49-F238E27FC236}">
                <a16:creationId xmlns:a16="http://schemas.microsoft.com/office/drawing/2014/main" id="{088331AA-63C6-4656-819C-BA1482B209BE}"/>
              </a:ext>
            </a:extLst>
          </p:cNvPr>
          <p:cNvGraphicFramePr/>
          <p:nvPr/>
        </p:nvGraphicFramePr>
        <p:xfrm>
          <a:off xmlns:a="http://schemas.openxmlformats.org/drawingml/2006/main" x="685800" y="2286000"/>
          <a:ext xmlns:a="http://schemas.openxmlformats.org/drawingml/2006/main" cx="10820400" cy="3162300"/>
        </p:xfrm>
        <a:graphic xmlns:a="http://schemas.openxmlformats.org/drawingml/2006/main">
          <a:graphicData uri="http://schemas.openxmlformats.org/drawingml/2006/table">
            <a:tbl>
              <a:tblPr firstRow="0" firstCol="0" bandRow="0"/>
              <a:tblGrid>
                <a:gridCol w="2762250"/>
                <a:gridCol w="4029075"/>
                <a:gridCol w="4029075"/>
              </a:tblGrid>
              <a:tr h="632460">
                <a:tc>
                  <a:txBody>
                    <a:bodyPr lIns="133350" tIns="85725" rIns="133350" bIns="85725"/>
                    <a:lstStyle/>
                    <a:p>
                      <a:r>
                        <a:rPr sz="1800" b="1">
                          <a:solidFill>
                            <a:srgbClr val="655C65"/>
                          </a:solidFill>
                          <a:latin typeface="Helvetica Neue"/>
                          <a:ea typeface="Helvetica Neue"/>
                          <a:cs typeface="Helvetica Neue"/>
                        </a:rPr>
                        <a:t>Ticket price</a:t>
                      </a:r>
                    </a:p>
                  </a:txBody>
                  <a:tcPr marL="91440" marR="91440" marT="45720" marB="45720" anchor="ctr">
                    <a:lnL w="9525">
                      <a:solidFill>
                        <a:srgbClr val="D4C6CB"/>
                      </a:solidFill>
                    </a:lnL>
                    <a:lnR w="9525">
                      <a:solidFill>
                        <a:srgbClr val="D4C6CB"/>
                      </a:solidFill>
                    </a:lnR>
                    <a:lnT w="9525">
                      <a:solidFill>
                        <a:srgbClr val="D4C6CB"/>
                      </a:solidFill>
                    </a:lnT>
                    <a:lnB w="9525">
                      <a:solidFill>
                        <a:srgbClr val="D4C6CB"/>
                      </a:solidFill>
                    </a:lnB>
                    <a:solidFill>
                      <a:srgbClr val="FFF3DF"/>
                    </a:solidFill>
                  </a:tcPr>
                </a:tc>
                <a:tc>
                  <a:txBody>
                    <a:bodyPr lIns="133350" tIns="85725" rIns="133350" bIns="85725"/>
                    <a:lstStyle/>
                    <a:p>
                      <a:r>
                        <a:rPr sz="1800" b="1">
                          <a:solidFill>
                            <a:srgbClr val="655C65"/>
                          </a:solidFill>
                          <a:latin typeface="Helvetica Neue"/>
                          <a:ea typeface="Helvetica Neue"/>
                          <a:cs typeface="Helvetica Neue"/>
                        </a:rPr>
                        <a:t>Average profit</a:t>
                      </a:r>
                    </a:p>
                  </a:txBody>
                  <a:tcPr marL="91440" marR="91440" marT="45720" marB="45720" anchor="ctr">
                    <a:lnR w="9525">
                      <a:solidFill>
                        <a:srgbClr val="D4C6CB"/>
                      </a:solidFill>
                    </a:lnR>
                    <a:lnT w="9525">
                      <a:solidFill>
                        <a:srgbClr val="D4C6CB"/>
                      </a:solidFill>
                    </a:lnT>
                    <a:lnB w="9525">
                      <a:solidFill>
                        <a:srgbClr val="D4C6CB"/>
                      </a:solidFill>
                    </a:lnB>
                    <a:solidFill>
                      <a:srgbClr val="FFF3DF"/>
                    </a:solidFill>
                  </a:tcPr>
                </a:tc>
                <a:tc>
                  <a:txBody>
                    <a:bodyPr lIns="133350" tIns="85725" rIns="133350" bIns="85725"/>
                    <a:lstStyle/>
                    <a:p>
                      <a:r>
                        <a:rPr sz="1800" b="1">
                          <a:solidFill>
                            <a:srgbClr val="655C65"/>
                          </a:solidFill>
                          <a:latin typeface="Helvetica Neue"/>
                          <a:ea typeface="Helvetica Neue"/>
                          <a:cs typeface="Helvetica Neue"/>
                        </a:rPr>
                        <a:t>Finish both (%)</a:t>
                      </a:r>
                    </a:p>
                  </a:txBody>
                  <a:tcPr marL="91440" marR="91440" marT="45720" marB="45720" anchor="ctr">
                    <a:lnR w="9525">
                      <a:solidFill>
                        <a:srgbClr val="D4C6CB"/>
                      </a:solidFill>
                    </a:lnR>
                    <a:lnT w="9525">
                      <a:solidFill>
                        <a:srgbClr val="D4C6CB"/>
                      </a:solidFill>
                    </a:lnT>
                    <a:lnB w="9525">
                      <a:solidFill>
                        <a:srgbClr val="D4C6CB"/>
                      </a:solidFill>
                    </a:lnB>
                    <a:solidFill>
                      <a:srgbClr val="FFF3DF"/>
                    </a:solidFill>
                  </a:tcPr>
                </a:tc>
              </a:tr>
              <a:tr h="632460">
                <a:tc>
                  <a:txBody>
                    <a:bodyPr lIns="133350" tIns="85725" rIns="133350" bIns="85725"/>
                    <a:lstStyle/>
                    <a:p>
                      <a:r>
                        <a:rPr sz="2400" b="1">
                          <a:solidFill>
                            <a:srgbClr val="332439"/>
                          </a:solidFill>
                          <a:latin typeface="Helvetica Neue"/>
                          <a:ea typeface="Helvetica Neue"/>
                          <a:cs typeface="Helvetica Neue"/>
                        </a:rPr>
                        <a:t>$10</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$1,606.65</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51.7%</a:t>
                      </a:r>
                    </a:p>
                  </a:txBody>
                  <a:tcPr marL="91440" marR="91440" marT="45720" marB="45720" anchor="ctr">
                    <a:lnR w="9525">
                      <a:solidFill>
                        <a:srgbClr val="D4C6CB"/>
                      </a:solidFill>
                    </a:lnR>
                    <a:lnB w="9525">
                      <a:solidFill>
                        <a:srgbClr val="D4C6CB"/>
                      </a:solidFill>
                    </a:lnB>
                    <a:solidFill>
                      <a:srgbClr val="FFF3DF"/>
                    </a:solidFill>
                  </a:tcPr>
                </a:tc>
              </a:tr>
              <a:tr h="632460">
                <a:tc>
                  <a:txBody>
                    <a:bodyPr lIns="133350" tIns="85725" rIns="133350" bIns="85725"/>
                    <a:lstStyle/>
                    <a:p>
                      <a:r>
                        <a:rPr sz="2400" b="1">
                          <a:solidFill>
                            <a:srgbClr val="332439"/>
                          </a:solidFill>
                          <a:latin typeface="Helvetica Neue"/>
                          <a:ea typeface="Helvetica Neue"/>
                          <a:cs typeface="Helvetica Neue"/>
                        </a:rPr>
                        <a:t>$20</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$3,041.46</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77.0%</a:t>
                      </a:r>
                    </a:p>
                  </a:txBody>
                  <a:tcPr marL="91440" marR="91440" marT="45720" marB="45720" anchor="ctr">
                    <a:lnR w="9525">
                      <a:solidFill>
                        <a:srgbClr val="D4C6CB"/>
                      </a:solidFill>
                    </a:lnR>
                    <a:lnB w="9525">
                      <a:solidFill>
                        <a:srgbClr val="D4C6CB"/>
                      </a:solidFill>
                    </a:lnB>
                    <a:solidFill>
                      <a:srgbClr val="FFF3DF"/>
                    </a:solidFill>
                  </a:tcPr>
                </a:tc>
              </a:tr>
              <a:tr h="632460">
                <a:tc>
                  <a:txBody>
                    <a:bodyPr lIns="133350" tIns="85725" rIns="133350" bIns="85725"/>
                    <a:lstStyle/>
                    <a:p>
                      <a:r>
                        <a:rPr sz="2400" b="1">
                          <a:solidFill>
                            <a:srgbClr val="332439"/>
                          </a:solidFill>
                          <a:latin typeface="Helvetica Neue"/>
                          <a:ea typeface="Helvetica Neue"/>
                          <a:cs typeface="Helvetica Neue"/>
                        </a:rPr>
                        <a:t>$30</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$3,004.44</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94.6%</a:t>
                      </a:r>
                    </a:p>
                  </a:txBody>
                  <a:tcPr marL="91440" marR="91440" marT="45720" marB="45720" anchor="ctr">
                    <a:lnR w="9525">
                      <a:solidFill>
                        <a:srgbClr val="D4C6CB"/>
                      </a:solidFill>
                    </a:lnR>
                    <a:lnB w="9525">
                      <a:solidFill>
                        <a:srgbClr val="D4C6CB"/>
                      </a:solidFill>
                    </a:lnB>
                    <a:solidFill>
                      <a:srgbClr val="FFF3DF"/>
                    </a:solidFill>
                  </a:tcPr>
                </a:tc>
              </a:tr>
              <a:tr h="632460">
                <a:tc>
                  <a:txBody>
                    <a:bodyPr lIns="133350" tIns="85725" rIns="133350" bIns="85725"/>
                    <a:lstStyle/>
                    <a:p>
                      <a:r>
                        <a:rPr sz="2400" b="1">
                          <a:solidFill>
                            <a:srgbClr val="332439"/>
                          </a:solidFill>
                          <a:latin typeface="Helvetica Neue"/>
                          <a:ea typeface="Helvetica Neue"/>
                          <a:cs typeface="Helvetica Neue"/>
                        </a:rPr>
                        <a:t>$50</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$1,680.85</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400" b="0">
                          <a:solidFill>
                            <a:srgbClr val="332439"/>
                          </a:solidFill>
                          <a:latin typeface="Helvetica Neue"/>
                          <a:ea typeface="Helvetica Neue"/>
                          <a:cs typeface="Helvetica Neue"/>
                        </a:rPr>
                        <a:t>97.6%</a:t>
                      </a:r>
                    </a:p>
                  </a:txBody>
                  <a:tcPr marL="91440" marR="91440" marT="45720" marB="45720" anchor="ctr">
                    <a:lnR w="9525">
                      <a:solidFill>
                        <a:srgbClr val="D4C6CB"/>
                      </a:solidFill>
                    </a:lnR>
                    <a:lnB w="9525">
                      <a:solidFill>
                        <a:srgbClr val="D4C6CB"/>
                      </a:solidFill>
                    </a:lnB>
                    <a:solidFill>
                      <a:srgbClr val="FFF3DF"/>
                    </a:solidFill>
                  </a:tcPr>
                </a:tc>
              </a:tr>
            </a:tbl>
          </a:graphicData>
        </a:graphic>
      </p:graphicFrame>
      <p:sp>
        <p:nvSpPr>
          <p:cNvPr id="4" name="footer">
            <a:extLst xmlns:a="http://schemas.openxmlformats.org/drawingml/2006/main">
              <a:ext uri="{FF2B5EF4-FFF2-40B4-BE49-F238E27FC236}">
                <a16:creationId xmlns:a16="http://schemas.microsoft.com/office/drawing/2014/main" id="{88806194-721B-4CE3-9DA1-3F262C66359C}"/>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55C65"/>
                </a:solidFill>
                <a:latin typeface="Helvetica Neue"/>
                <a:ea typeface="Helvetica Neue"/>
                <a:cs typeface="Helvetica Neue"/>
              </a:defRPr>
            </a:defPPr>
          </a:lstStyle>
          <a:p xmlns:a="http://schemas.openxmlformats.org/drawingml/2006/main">
            <a:pPr>
              <a:buNone/>
              <a:defRPr sz="1500" b="0">
                <a:solidFill>
                  <a:srgbClr val="655C65"/>
                </a:solidFill>
                <a:latin typeface="Helvetica Neue"/>
                <a:ea typeface="Helvetica Neue"/>
                <a:cs typeface="Helvetica Neue"/>
              </a:defRPr>
            </a:pPr>
            <a:r>
              <a:rPr sz="1500" b="0">
                <a:solidFill>
                  <a:srgbClr val="655C65"/>
                </a:solidFill>
                <a:latin typeface="Helvetica Neue"/>
                <a:ea typeface="Helvetica Neue"/>
                <a:cs typeface="Helvetica Neue"/>
              </a:rPr>
              <a:t>Percentages rounded down to one decimal. More prices are in the information sheet.</a:t>
            </a:r>
          </a:p>
        </p:txBody>
      </p:sp>
    </p:spTree>
    <p:extLst>
      <p:ext uri="{BB962C8B-B14F-4D97-AF65-F5344CB8AC3E}">
        <p14:creationId xmlns:p14="http://schemas.microsoft.com/office/powerpoint/2010/main" val="602026017"/>
      </p:ext>
    </p:extLst>
  </p:cSld>
</p:sld>
</file>

<file path=ppt/slides/slide6.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B389E43-3973-457C-9A25-B7D40E57D421}"/>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24182D"/>
                </a:solidFill>
                <a:latin typeface="Helvetica Neue"/>
                <a:ea typeface="Helvetica Neue"/>
                <a:cs typeface="Helvetica Neue"/>
              </a:defRPr>
            </a:defPPr>
          </a:lstStyle>
          <a:p xmlns:a="http://schemas.openxmlformats.org/drawingml/2006/main">
            <a:pPr>
              <a:buNone/>
              <a:defRPr sz="3600" b="1">
                <a:solidFill>
                  <a:srgbClr val="24182D"/>
                </a:solidFill>
                <a:latin typeface="Helvetica Neue"/>
                <a:ea typeface="Helvetica Neue"/>
                <a:cs typeface="Helvetica Neue"/>
              </a:defRPr>
            </a:pPr>
            <a:r>
              <a:rPr sz="3600" b="1">
                <a:solidFill>
                  <a:srgbClr val="24182D"/>
                </a:solidFill>
                <a:latin typeface="Helvetica Neue"/>
                <a:ea typeface="Helvetica Neue"/>
                <a:cs typeface="Helvetica Neue"/>
              </a:rPr>
              <a:t>Your team’s CER decision</a:t>
            </a:r>
          </a:p>
        </p:txBody>
      </p:sp>
      <p:sp>
        <p:nvSpPr>
          <p:cNvPr id="2" name="activity-criterion">
            <a:extLst xmlns:a="http://schemas.openxmlformats.org/drawingml/2006/main">
              <a:ext uri="{FF2B5EF4-FFF2-40B4-BE49-F238E27FC236}">
                <a16:creationId xmlns:a16="http://schemas.microsoft.com/office/drawing/2014/main" id="{9F7A8187-5C7C-4F0C-9B54-4A830A65C37C}"/>
              </a:ext>
            </a:extLst>
          </p:cNvPr>
          <p:cNvSpPr>
            <a:spLocks xmlns:a="http://schemas.openxmlformats.org/drawingml/2006/main" noGrp="1"/>
          </p:cNvSpPr>
          <p:nvPr/>
        </p:nvSpPr>
        <p:spPr>
          <a:xfrm xmlns:a="http://schemas.openxmlformats.org/drawingml/2006/main">
            <a:off x="685800" y="150495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182D"/>
                </a:solidFill>
                <a:latin typeface="Helvetica Neue"/>
                <a:ea typeface="Helvetica Neue"/>
                <a:cs typeface="Helvetica Neue"/>
              </a:defRPr>
            </a:defPPr>
          </a:lstStyle>
          <a:p xmlns:a="http://schemas.openxmlformats.org/drawingml/2006/main">
            <a:pPr>
              <a:buNone/>
              <a:defRPr sz="2250" b="1">
                <a:solidFill>
                  <a:srgbClr val="24182D"/>
                </a:solidFill>
                <a:latin typeface="Helvetica Neue"/>
                <a:ea typeface="Helvetica Neue"/>
                <a:cs typeface="Helvetica Neue"/>
              </a:defRPr>
            </a:pPr>
            <a:r>
              <a:rPr sz="2250" b="1">
                <a:solidFill>
                  <a:srgbClr val="24182D"/>
                </a:solidFill>
                <a:latin typeface="Helvetica Neue"/>
                <a:ea typeface="Helvetica Neue"/>
                <a:cs typeface="Helvetica Neue"/>
              </a:rPr>
              <a:t>Our minimum: ____%     Our reason: __________________</a:t>
            </a:r>
          </a:p>
        </p:txBody>
      </p:sp>
      <p:graphicFrame>
        <p:nvGraphicFramePr>
          <p:cNvPr id="3" name="">
            <a:extLst xmlns:a="http://schemas.openxmlformats.org/drawingml/2006/main">
              <a:ext uri="{FF2B5EF4-FFF2-40B4-BE49-F238E27FC236}">
                <a16:creationId xmlns:a16="http://schemas.microsoft.com/office/drawing/2014/main" id="{23E2EC1A-B730-4C51-89C1-242FD7B49FE2}"/>
              </a:ext>
            </a:extLst>
          </p:cNvPr>
          <p:cNvGraphicFramePr/>
          <p:nvPr/>
        </p:nvGraphicFramePr>
        <p:xfrm>
          <a:off xmlns:a="http://schemas.openxmlformats.org/drawingml/2006/main" x="685800" y="2428875"/>
          <a:ext xmlns:a="http://schemas.openxmlformats.org/drawingml/2006/main" cx="10820400" cy="2590800"/>
        </p:xfrm>
        <a:graphic xmlns:a="http://schemas.openxmlformats.org/drawingml/2006/main">
          <a:graphicData uri="http://schemas.openxmlformats.org/drawingml/2006/table">
            <a:tbl>
              <a:tblPr firstRow="0" firstCol="0" bandRow="0"/>
              <a:tblGrid>
                <a:gridCol w="2047875"/>
                <a:gridCol w="2667000"/>
                <a:gridCol w="2524125"/>
                <a:gridCol w="3581400"/>
              </a:tblGrid>
              <a:tr h="647700">
                <a:tc>
                  <a:txBody>
                    <a:bodyPr lIns="133350" tIns="85725" rIns="133350" bIns="85725"/>
                    <a:lstStyle/>
                    <a:p>
                      <a:r>
                        <a:rPr sz="1800" b="1">
                          <a:solidFill>
                            <a:srgbClr val="655C65"/>
                          </a:solidFill>
                          <a:latin typeface="Helvetica Neue"/>
                          <a:ea typeface="Helvetica Neue"/>
                          <a:cs typeface="Helvetica Neue"/>
                        </a:rPr>
                        <a:t>Ticket price</a:t>
                      </a:r>
                    </a:p>
                  </a:txBody>
                  <a:tcPr marL="91440" marR="91440" marT="45720" marB="45720" anchor="ctr">
                    <a:lnL w="9525">
                      <a:solidFill>
                        <a:srgbClr val="D4C6CB"/>
                      </a:solidFill>
                    </a:lnL>
                    <a:lnR w="9525">
                      <a:solidFill>
                        <a:srgbClr val="D4C6CB"/>
                      </a:solidFill>
                    </a:lnR>
                    <a:lnT w="9525">
                      <a:solidFill>
                        <a:srgbClr val="D4C6CB"/>
                      </a:solidFill>
                    </a:lnT>
                    <a:lnB w="9525">
                      <a:solidFill>
                        <a:srgbClr val="D4C6CB"/>
                      </a:solidFill>
                    </a:lnB>
                    <a:solidFill>
                      <a:srgbClr val="FFF3DF"/>
                    </a:solidFill>
                  </a:tcPr>
                </a:tc>
                <a:tc>
                  <a:txBody>
                    <a:bodyPr lIns="133350" tIns="85725" rIns="133350" bIns="85725"/>
                    <a:lstStyle/>
                    <a:p>
                      <a:r>
                        <a:rPr sz="1800" b="1">
                          <a:solidFill>
                            <a:srgbClr val="655C65"/>
                          </a:solidFill>
                          <a:latin typeface="Helvetica Neue"/>
                          <a:ea typeface="Helvetica Neue"/>
                          <a:cs typeface="Helvetica Neue"/>
                        </a:rPr>
                        <a:t>Average profit</a:t>
                      </a:r>
                    </a:p>
                  </a:txBody>
                  <a:tcPr marL="91440" marR="91440" marT="45720" marB="45720" anchor="ctr">
                    <a:lnR w="9525">
                      <a:solidFill>
                        <a:srgbClr val="D4C6CB"/>
                      </a:solidFill>
                    </a:lnR>
                    <a:lnT w="9525">
                      <a:solidFill>
                        <a:srgbClr val="D4C6CB"/>
                      </a:solidFill>
                    </a:lnT>
                    <a:lnB w="9525">
                      <a:solidFill>
                        <a:srgbClr val="D4C6CB"/>
                      </a:solidFill>
                    </a:lnB>
                    <a:solidFill>
                      <a:srgbClr val="FFF3DF"/>
                    </a:solidFill>
                  </a:tcPr>
                </a:tc>
                <a:tc>
                  <a:txBody>
                    <a:bodyPr lIns="133350" tIns="85725" rIns="133350" bIns="85725"/>
                    <a:lstStyle/>
                    <a:p>
                      <a:r>
                        <a:rPr sz="1800" b="1">
                          <a:solidFill>
                            <a:srgbClr val="655C65"/>
                          </a:solidFill>
                          <a:latin typeface="Helvetica Neue"/>
                          <a:ea typeface="Helvetica Neue"/>
                          <a:cs typeface="Helvetica Neue"/>
                        </a:rPr>
                        <a:t>Finish both (%)</a:t>
                      </a:r>
                    </a:p>
                  </a:txBody>
                  <a:tcPr marL="91440" marR="91440" marT="45720" marB="45720" anchor="ctr">
                    <a:lnR w="9525">
                      <a:solidFill>
                        <a:srgbClr val="D4C6CB"/>
                      </a:solidFill>
                    </a:lnR>
                    <a:lnT w="9525">
                      <a:solidFill>
                        <a:srgbClr val="D4C6CB"/>
                      </a:solidFill>
                    </a:lnT>
                    <a:lnB w="9525">
                      <a:solidFill>
                        <a:srgbClr val="D4C6CB"/>
                      </a:solidFill>
                    </a:lnB>
                    <a:solidFill>
                      <a:srgbClr val="FFF3DF"/>
                    </a:solidFill>
                  </a:tcPr>
                </a:tc>
                <a:tc>
                  <a:txBody>
                    <a:bodyPr lIns="133350" tIns="85725" rIns="133350" bIns="85725"/>
                    <a:lstStyle/>
                    <a:p>
                      <a:r>
                        <a:rPr sz="1800" b="1">
                          <a:solidFill>
                            <a:srgbClr val="655C65"/>
                          </a:solidFill>
                          <a:latin typeface="Helvetica Neue"/>
                          <a:ea typeface="Helvetica Neue"/>
                          <a:cs typeface="Helvetica Neue"/>
                        </a:rPr>
                        <a:t>Meets our minimum?</a:t>
                      </a:r>
                    </a:p>
                  </a:txBody>
                  <a:tcPr marL="91440" marR="91440" marT="45720" marB="45720" anchor="ctr">
                    <a:lnR w="9525">
                      <a:solidFill>
                        <a:srgbClr val="D4C6CB"/>
                      </a:solidFill>
                    </a:lnR>
                    <a:lnT w="9525">
                      <a:solidFill>
                        <a:srgbClr val="D4C6CB"/>
                      </a:solidFill>
                    </a:lnT>
                    <a:lnB w="9525">
                      <a:solidFill>
                        <a:srgbClr val="D4C6CB"/>
                      </a:solidFill>
                    </a:lnB>
                    <a:solidFill>
                      <a:srgbClr val="FFF3DF"/>
                    </a:solidFill>
                  </a:tcPr>
                </a:tc>
              </a:tr>
              <a:tr h="647700">
                <a:tc>
                  <a:txBody>
                    <a:bodyPr lIns="133350" tIns="85725" rIns="133350" bIns="85725"/>
                    <a:lstStyle/>
                    <a:p>
                      <a:r>
                        <a:rPr sz="2100" b="1">
                          <a:solidFill>
                            <a:srgbClr val="332439"/>
                          </a:solidFill>
                          <a:latin typeface="Helvetica Neue"/>
                          <a:ea typeface="Helvetica Neue"/>
                          <a:cs typeface="Helvetica Neue"/>
                        </a:rPr>
                        <a:t>$________</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Yes / No</a:t>
                      </a:r>
                    </a:p>
                  </a:txBody>
                  <a:tcPr marL="91440" marR="91440" marT="45720" marB="45720" anchor="ctr">
                    <a:lnR w="9525">
                      <a:solidFill>
                        <a:srgbClr val="D4C6CB"/>
                      </a:solidFill>
                    </a:lnR>
                    <a:lnB w="9525">
                      <a:solidFill>
                        <a:srgbClr val="D4C6CB"/>
                      </a:solidFill>
                    </a:lnB>
                    <a:solidFill>
                      <a:srgbClr val="FFF3DF"/>
                    </a:solidFill>
                  </a:tcPr>
                </a:tc>
              </a:tr>
              <a:tr h="647700">
                <a:tc>
                  <a:txBody>
                    <a:bodyPr lIns="133350" tIns="85725" rIns="133350" bIns="85725"/>
                    <a:lstStyle/>
                    <a:p>
                      <a:r>
                        <a:rPr sz="2100" b="1">
                          <a:solidFill>
                            <a:srgbClr val="332439"/>
                          </a:solidFill>
                          <a:latin typeface="Helvetica Neue"/>
                          <a:ea typeface="Helvetica Neue"/>
                          <a:cs typeface="Helvetica Neue"/>
                        </a:rPr>
                        <a:t>$________</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Yes / No</a:t>
                      </a:r>
                    </a:p>
                  </a:txBody>
                  <a:tcPr marL="91440" marR="91440" marT="45720" marB="45720" anchor="ctr">
                    <a:lnR w="9525">
                      <a:solidFill>
                        <a:srgbClr val="D4C6CB"/>
                      </a:solidFill>
                    </a:lnR>
                    <a:lnB w="9525">
                      <a:solidFill>
                        <a:srgbClr val="D4C6CB"/>
                      </a:solidFill>
                    </a:lnB>
                    <a:solidFill>
                      <a:srgbClr val="FFF3DF"/>
                    </a:solidFill>
                  </a:tcPr>
                </a:tc>
              </a:tr>
              <a:tr h="647700">
                <a:tc>
                  <a:txBody>
                    <a:bodyPr lIns="133350" tIns="85725" rIns="133350" bIns="85725"/>
                    <a:lstStyle/>
                    <a:p>
                      <a:r>
                        <a:rPr sz="2100" b="1">
                          <a:solidFill>
                            <a:srgbClr val="332439"/>
                          </a:solidFill>
                          <a:latin typeface="Helvetica Neue"/>
                          <a:ea typeface="Helvetica Neue"/>
                          <a:cs typeface="Helvetica Neue"/>
                        </a:rPr>
                        <a:t>$________</a:t>
                      </a:r>
                    </a:p>
                  </a:txBody>
                  <a:tcPr marL="91440" marR="91440" marT="45720" marB="45720" anchor="ctr">
                    <a:lnL w="9525">
                      <a:solidFill>
                        <a:srgbClr val="D4C6CB"/>
                      </a:solidFill>
                    </a:lnL>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_______%</a:t>
                      </a:r>
                    </a:p>
                  </a:txBody>
                  <a:tcPr marL="91440" marR="91440" marT="45720" marB="45720" anchor="ctr">
                    <a:lnR w="9525">
                      <a:solidFill>
                        <a:srgbClr val="D4C6CB"/>
                      </a:solidFill>
                    </a:lnR>
                    <a:lnB w="9525">
                      <a:solidFill>
                        <a:srgbClr val="D4C6CB"/>
                      </a:solidFill>
                    </a:lnB>
                    <a:solidFill>
                      <a:srgbClr val="FFF3DF"/>
                    </a:solidFill>
                  </a:tcPr>
                </a:tc>
                <a:tc>
                  <a:txBody>
                    <a:bodyPr lIns="133350" tIns="85725" rIns="133350" bIns="85725"/>
                    <a:lstStyle/>
                    <a:p>
                      <a:r>
                        <a:rPr sz="2100" b="0">
                          <a:solidFill>
                            <a:srgbClr val="332439"/>
                          </a:solidFill>
                          <a:latin typeface="Helvetica Neue"/>
                          <a:ea typeface="Helvetica Neue"/>
                          <a:cs typeface="Helvetica Neue"/>
                        </a:rPr>
                        <a:t>Yes / No</a:t>
                      </a:r>
                    </a:p>
                  </a:txBody>
                  <a:tcPr marL="91440" marR="91440" marT="45720" marB="45720" anchor="ctr">
                    <a:lnR w="9525">
                      <a:solidFill>
                        <a:srgbClr val="D4C6CB"/>
                      </a:solidFill>
                    </a:lnR>
                    <a:lnB w="9525">
                      <a:solidFill>
                        <a:srgbClr val="D4C6CB"/>
                      </a:solidFill>
                    </a:lnB>
                    <a:solidFill>
                      <a:srgbClr val="FFF3DF"/>
                    </a:solidFill>
                  </a:tcPr>
                </a:tc>
              </a:tr>
            </a:tbl>
          </a:graphicData>
        </a:graphic>
      </p:graphicFrame>
      <p:sp>
        <p:nvSpPr>
          <p:cNvPr id="4" name="activity-next">
            <a:extLst xmlns:a="http://schemas.openxmlformats.org/drawingml/2006/main">
              <a:ext uri="{FF2B5EF4-FFF2-40B4-BE49-F238E27FC236}">
                <a16:creationId xmlns:a16="http://schemas.microsoft.com/office/drawing/2014/main" id="{0AF88FC9-5B3A-4D8B-BE2E-21C3B9B954D8}"/>
              </a:ext>
            </a:extLst>
          </p:cNvPr>
          <p:cNvSpPr>
            <a:spLocks xmlns:a="http://schemas.openxmlformats.org/drawingml/2006/main" noGrp="1"/>
          </p:cNvSpPr>
          <p:nvPr/>
        </p:nvSpPr>
        <p:spPr>
          <a:xfrm xmlns:a="http://schemas.openxmlformats.org/drawingml/2006/main">
            <a:off x="685800" y="542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4182D"/>
                </a:solidFill>
                <a:latin typeface="Helvetica Neue"/>
                <a:ea typeface="Helvetica Neue"/>
                <a:cs typeface="Helvetica Neue"/>
              </a:defRPr>
            </a:defPPr>
          </a:lstStyle>
          <a:p xmlns:a="http://schemas.openxmlformats.org/drawingml/2006/main">
            <a:pPr>
              <a:buNone/>
              <a:defRPr sz="2475" b="1">
                <a:solidFill>
                  <a:srgbClr val="24182D"/>
                </a:solidFill>
                <a:latin typeface="Helvetica Neue"/>
                <a:ea typeface="Helvetica Neue"/>
                <a:cs typeface="Helvetica Neue"/>
              </a:defRPr>
            </a:pPr>
            <a:r>
              <a:rPr sz="2475" b="1">
                <a:solidFill>
                  <a:srgbClr val="24182D"/>
                </a:solidFill>
                <a:latin typeface="Helvetica Neue"/>
                <a:ea typeface="Helvetica Neue"/>
                <a:cs typeface="Helvetica Neue"/>
              </a:rPr>
              <a:t>Choose a price. Use both numbers to explain your choice.</a:t>
            </a:r>
          </a:p>
        </p:txBody>
      </p:sp>
      <p:sp>
        <p:nvSpPr>
          <p:cNvPr id="5" name="footer">
            <a:extLst xmlns:a="http://schemas.openxmlformats.org/drawingml/2006/main">
              <a:ext uri="{FF2B5EF4-FFF2-40B4-BE49-F238E27FC236}">
                <a16:creationId xmlns:a16="http://schemas.microsoft.com/office/drawing/2014/main" id="{9FF4EB9E-7F6E-4E74-A886-4AC01186F279}"/>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55C65"/>
                </a:solidFill>
                <a:latin typeface="Helvetica Neue"/>
                <a:ea typeface="Helvetica Neue"/>
                <a:cs typeface="Helvetica Neue"/>
              </a:defRPr>
            </a:defPPr>
          </a:lstStyle>
          <a:p xmlns:a="http://schemas.openxmlformats.org/drawingml/2006/main">
            <a:pPr>
              <a:buNone/>
              <a:defRPr sz="1500" b="0">
                <a:solidFill>
                  <a:srgbClr val="655C65"/>
                </a:solidFill>
                <a:latin typeface="Helvetica Neue"/>
                <a:ea typeface="Helvetica Neue"/>
                <a:cs typeface="Helvetica Neue"/>
              </a:defRPr>
            </a:pPr>
            <a:r>
              <a:rPr sz="1500" b="0">
                <a:solidFill>
                  <a:srgbClr val="655C65"/>
                </a:solidFill>
                <a:latin typeface="Helvetica Neue"/>
                <a:ea typeface="Helvetica Neue"/>
                <a:cs typeface="Helvetica Neue"/>
              </a:rPr>
              <a:t>Use the simulator OR the price information sheet. Compare at least two prices.</a:t>
            </a:r>
          </a:p>
        </p:txBody>
      </p:sp>
    </p:spTree>
    <p:extLst>
      <p:ext uri="{BB962C8B-B14F-4D97-AF65-F5344CB8AC3E}">
        <p14:creationId xmlns:p14="http://schemas.microsoft.com/office/powerpoint/2010/main" val="1729104962"/>
      </p:ext>
    </p:extLst>
  </p:cSld>
</p:sld>
</file>

<file path=ppt/slides/slide7.xml><?xml version="1.0" encoding="utf-8"?>
<p:sld xmlns:p="http://schemas.openxmlformats.org/presentationml/2006/main">
  <p:cSld>
    <p:bg>
      <p:bgPr>
        <a:solidFill xmlns:a="http://schemas.openxmlformats.org/drawingml/2006/main">
          <a:srgbClr val="24182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DA77F17-B99D-45AE-976B-F35276588BAC}"/>
              </a:ext>
            </a:extLst>
          </p:cNvPr>
          <p:cNvSpPr>
            <a:spLocks xmlns:a="http://schemas.openxmlformats.org/drawingml/2006/main" noGrp="1"/>
          </p:cNvSpPr>
          <p:nvPr/>
        </p:nvSpPr>
        <p:spPr>
          <a:xfrm xmlns:a="http://schemas.openxmlformats.org/drawingml/2006/main">
            <a:off x="685800" y="5524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3DF"/>
                </a:solidFill>
                <a:latin typeface="Helvetica Neue"/>
                <a:ea typeface="Helvetica Neue"/>
                <a:cs typeface="Helvetica Neue"/>
              </a:defRPr>
            </a:defPPr>
          </a:lstStyle>
          <a:p xmlns:a="http://schemas.openxmlformats.org/drawingml/2006/main">
            <a:pPr>
              <a:buNone/>
              <a:defRPr sz="3600" b="1">
                <a:solidFill>
                  <a:srgbClr val="FFF3DF"/>
                </a:solidFill>
                <a:latin typeface="Helvetica Neue"/>
                <a:ea typeface="Helvetica Neue"/>
                <a:cs typeface="Helvetica Neue"/>
              </a:defRPr>
            </a:pPr>
            <a:r>
              <a:rPr sz="3600" b="1">
                <a:solidFill>
                  <a:srgbClr val="FFF3DF"/>
                </a:solidFill>
                <a:latin typeface="Helvetica Neue"/>
                <a:ea typeface="Helvetica Neue"/>
                <a:cs typeface="Helvetica Neue"/>
              </a:rPr>
              <a:t>Explain your decision</a:t>
            </a:r>
          </a:p>
        </p:txBody>
      </p:sp>
      <p:sp>
        <p:nvSpPr>
          <p:cNvPr id="2" name="claim-label">
            <a:extLst xmlns:a="http://schemas.openxmlformats.org/drawingml/2006/main">
              <a:ext uri="{FF2B5EF4-FFF2-40B4-BE49-F238E27FC236}">
                <a16:creationId xmlns:a16="http://schemas.microsoft.com/office/drawing/2014/main" id="{FB2C80A4-7434-458D-948B-38E340F42012}"/>
              </a:ext>
            </a:extLst>
          </p:cNvPr>
          <p:cNvSpPr>
            <a:spLocks xmlns:a="http://schemas.openxmlformats.org/drawingml/2006/main" noGrp="1"/>
          </p:cNvSpPr>
          <p:nvPr/>
        </p:nvSpPr>
        <p:spPr>
          <a:xfrm xmlns:a="http://schemas.openxmlformats.org/drawingml/2006/main">
            <a:off x="685800" y="15716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4A150"/>
                </a:solidFill>
                <a:latin typeface="Helvetica Neue"/>
                <a:ea typeface="Helvetica Neue"/>
                <a:cs typeface="Helvetica Neue"/>
              </a:defRPr>
            </a:defPPr>
          </a:lstStyle>
          <a:p xmlns:a="http://schemas.openxmlformats.org/drawingml/2006/main">
            <a:pPr>
              <a:buNone/>
              <a:defRPr sz="2250" b="1">
                <a:solidFill>
                  <a:srgbClr val="F4A150"/>
                </a:solidFill>
                <a:latin typeface="Helvetica Neue"/>
                <a:ea typeface="Helvetica Neue"/>
                <a:cs typeface="Helvetica Neue"/>
              </a:defRPr>
            </a:pPr>
            <a:r>
              <a:rPr sz="2250" b="1">
                <a:solidFill>
                  <a:srgbClr val="F4A150"/>
                </a:solidFill>
                <a:latin typeface="Helvetica Neue"/>
                <a:ea typeface="Helvetica Neue"/>
                <a:cs typeface="Helvetica Neue"/>
              </a:rPr>
              <a:t>Claim</a:t>
            </a:r>
          </a:p>
        </p:txBody>
      </p:sp>
      <p:sp>
        <p:nvSpPr>
          <p:cNvPr id="3" name="claim-frame">
            <a:extLst xmlns:a="http://schemas.openxmlformats.org/drawingml/2006/main">
              <a:ext uri="{FF2B5EF4-FFF2-40B4-BE49-F238E27FC236}">
                <a16:creationId xmlns:a16="http://schemas.microsoft.com/office/drawing/2014/main" id="{8433565D-E95C-49DB-B2FB-6EF31F5A46FC}"/>
              </a:ext>
            </a:extLst>
          </p:cNvPr>
          <p:cNvSpPr>
            <a:spLocks xmlns:a="http://schemas.openxmlformats.org/drawingml/2006/main" noGrp="1"/>
          </p:cNvSpPr>
          <p:nvPr/>
        </p:nvSpPr>
        <p:spPr>
          <a:xfrm xmlns:a="http://schemas.openxmlformats.org/drawingml/2006/main">
            <a:off x="685800" y="20383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FF3DF"/>
                </a:solidFill>
                <a:latin typeface="Helvetica Neue"/>
                <a:ea typeface="Helvetica Neue"/>
                <a:cs typeface="Helvetica Neue"/>
              </a:defRPr>
            </a:defPPr>
          </a:lstStyle>
          <a:p xmlns:a="http://schemas.openxmlformats.org/drawingml/2006/main">
            <a:pPr>
              <a:buNone/>
              <a:defRPr sz="2625" b="0">
                <a:solidFill>
                  <a:srgbClr val="FFF3DF"/>
                </a:solidFill>
                <a:latin typeface="Helvetica Neue"/>
                <a:ea typeface="Helvetica Neue"/>
                <a:cs typeface="Helvetica Neue"/>
              </a:defRPr>
            </a:pPr>
            <a:r>
              <a:rPr sz="2625" b="0">
                <a:solidFill>
                  <a:srgbClr val="FFF3DF"/>
                </a:solidFill>
                <a:latin typeface="Helvetica Neue"/>
                <a:ea typeface="Helvetica Neue"/>
                <a:cs typeface="Helvetica Neue"/>
              </a:rPr>
              <a:t>We choose a $___ ticket.</a:t>
            </a:r>
          </a:p>
        </p:txBody>
      </p:sp>
      <p:sp>
        <p:nvSpPr>
          <p:cNvPr id="4" name="evidence-label">
            <a:extLst xmlns:a="http://schemas.openxmlformats.org/drawingml/2006/main">
              <a:ext uri="{FF2B5EF4-FFF2-40B4-BE49-F238E27FC236}">
                <a16:creationId xmlns:a16="http://schemas.microsoft.com/office/drawing/2014/main" id="{A8D3F05F-DDBB-457C-B490-FB45EE1AA42E}"/>
              </a:ext>
            </a:extLst>
          </p:cNvPr>
          <p:cNvSpPr>
            <a:spLocks xmlns:a="http://schemas.openxmlformats.org/drawingml/2006/main" noGrp="1"/>
          </p:cNvSpPr>
          <p:nvPr/>
        </p:nvSpPr>
        <p:spPr>
          <a:xfrm xmlns:a="http://schemas.openxmlformats.org/drawingml/2006/main">
            <a:off x="685800" y="2857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4A150"/>
                </a:solidFill>
                <a:latin typeface="Helvetica Neue"/>
                <a:ea typeface="Helvetica Neue"/>
                <a:cs typeface="Helvetica Neue"/>
              </a:defRPr>
            </a:defPPr>
          </a:lstStyle>
          <a:p xmlns:a="http://schemas.openxmlformats.org/drawingml/2006/main">
            <a:pPr>
              <a:buNone/>
              <a:defRPr sz="2250" b="1">
                <a:solidFill>
                  <a:srgbClr val="F4A150"/>
                </a:solidFill>
                <a:latin typeface="Helvetica Neue"/>
                <a:ea typeface="Helvetica Neue"/>
                <a:cs typeface="Helvetica Neue"/>
              </a:defRPr>
            </a:pPr>
            <a:r>
              <a:rPr sz="2250" b="1">
                <a:solidFill>
                  <a:srgbClr val="F4A150"/>
                </a:solidFill>
                <a:latin typeface="Helvetica Neue"/>
                <a:ea typeface="Helvetica Neue"/>
                <a:cs typeface="Helvetica Neue"/>
              </a:rPr>
              <a:t>Evidence</a:t>
            </a:r>
          </a:p>
        </p:txBody>
      </p:sp>
      <p:sp>
        <p:nvSpPr>
          <p:cNvPr id="5" name="evidence-frame">
            <a:extLst xmlns:a="http://schemas.openxmlformats.org/drawingml/2006/main">
              <a:ext uri="{FF2B5EF4-FFF2-40B4-BE49-F238E27FC236}">
                <a16:creationId xmlns:a16="http://schemas.microsoft.com/office/drawing/2014/main" id="{103DE258-40E8-4A98-BDE2-19E553E9BD2A}"/>
              </a:ext>
            </a:extLst>
          </p:cNvPr>
          <p:cNvSpPr>
            <a:spLocks xmlns:a="http://schemas.openxmlformats.org/drawingml/2006/main" noGrp="1"/>
          </p:cNvSpPr>
          <p:nvPr/>
        </p:nvSpPr>
        <p:spPr>
          <a:xfrm xmlns:a="http://schemas.openxmlformats.org/drawingml/2006/main">
            <a:off x="685800" y="33242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3DF"/>
                </a:solidFill>
                <a:latin typeface="Helvetica Neue"/>
                <a:ea typeface="Helvetica Neue"/>
                <a:cs typeface="Helvetica Neue"/>
              </a:defRPr>
            </a:defPPr>
          </a:lstStyle>
          <a:p xmlns:a="http://schemas.openxmlformats.org/drawingml/2006/main">
            <a:pPr>
              <a:buNone/>
              <a:defRPr sz="2325" b="0">
                <a:solidFill>
                  <a:srgbClr val="FFF3DF"/>
                </a:solidFill>
                <a:latin typeface="Helvetica Neue"/>
                <a:ea typeface="Helvetica Neue"/>
                <a:cs typeface="Helvetica Neue"/>
              </a:defRPr>
            </a:pPr>
            <a:r>
              <a:rPr sz="2325" b="0">
                <a:solidFill>
                  <a:srgbClr val="FFF3DF"/>
                </a:solidFill>
                <a:latin typeface="Helvetica Neue"/>
                <a:ea typeface="Helvetica Neue"/>
                <a:cs typeface="Helvetica Neue"/>
              </a:rPr>
              <a:t>It earns $___ on average. ___% finish both.</a:t>
            </a:r>
          </a:p>
          <a:p xmlns:a="http://schemas.openxmlformats.org/drawingml/2006/main">
            <a:pPr>
              <a:buNone/>
              <a:defRPr sz="2325" b="0">
                <a:solidFill>
                  <a:srgbClr val="FFF3DF"/>
                </a:solidFill>
                <a:latin typeface="Helvetica Neue"/>
                <a:ea typeface="Helvetica Neue"/>
                <a:cs typeface="Helvetica Neue"/>
              </a:defRPr>
            </a:pPr>
            <a:r>
              <a:rPr sz="2325" b="0">
                <a:solidFill>
                  <a:srgbClr val="FFF3DF"/>
                </a:solidFill>
                <a:latin typeface="Helvetica Neue"/>
                <a:ea typeface="Helvetica Neue"/>
                <a:cs typeface="Helvetica Neue"/>
              </a:rPr>
              <a:t>At $___, profit is $___ and ___% finish both.</a:t>
            </a:r>
          </a:p>
        </p:txBody>
      </p:sp>
      <p:sp>
        <p:nvSpPr>
          <p:cNvPr id="6" name="reasoning-label">
            <a:extLst xmlns:a="http://schemas.openxmlformats.org/drawingml/2006/main">
              <a:ext uri="{FF2B5EF4-FFF2-40B4-BE49-F238E27FC236}">
                <a16:creationId xmlns:a16="http://schemas.microsoft.com/office/drawing/2014/main" id="{A67B5455-7753-44DA-8445-3B24AF7D379C}"/>
              </a:ext>
            </a:extLst>
          </p:cNvPr>
          <p:cNvSpPr>
            <a:spLocks xmlns:a="http://schemas.openxmlformats.org/drawingml/2006/main" noGrp="1"/>
          </p:cNvSpPr>
          <p:nvPr/>
        </p:nvSpPr>
        <p:spPr>
          <a:xfrm xmlns:a="http://schemas.openxmlformats.org/drawingml/2006/main">
            <a:off x="685800" y="44767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4A150"/>
                </a:solidFill>
                <a:latin typeface="Helvetica Neue"/>
                <a:ea typeface="Helvetica Neue"/>
                <a:cs typeface="Helvetica Neue"/>
              </a:defRPr>
            </a:defPPr>
          </a:lstStyle>
          <a:p xmlns:a="http://schemas.openxmlformats.org/drawingml/2006/main">
            <a:pPr>
              <a:buNone/>
              <a:defRPr sz="2250" b="1">
                <a:solidFill>
                  <a:srgbClr val="F4A150"/>
                </a:solidFill>
                <a:latin typeface="Helvetica Neue"/>
                <a:ea typeface="Helvetica Neue"/>
                <a:cs typeface="Helvetica Neue"/>
              </a:defRPr>
            </a:pPr>
            <a:r>
              <a:rPr sz="2250" b="1">
                <a:solidFill>
                  <a:srgbClr val="F4A150"/>
                </a:solidFill>
                <a:latin typeface="Helvetica Neue"/>
                <a:ea typeface="Helvetica Neue"/>
                <a:cs typeface="Helvetica Neue"/>
              </a:rPr>
              <a:t>Reasoning</a:t>
            </a:r>
          </a:p>
        </p:txBody>
      </p:sp>
      <p:sp>
        <p:nvSpPr>
          <p:cNvPr id="7" name="reasoning-frame">
            <a:extLst xmlns:a="http://schemas.openxmlformats.org/drawingml/2006/main">
              <a:ext uri="{FF2B5EF4-FFF2-40B4-BE49-F238E27FC236}">
                <a16:creationId xmlns:a16="http://schemas.microsoft.com/office/drawing/2014/main" id="{F86D4CF8-5926-4339-83D7-E613AF827357}"/>
              </a:ext>
            </a:extLst>
          </p:cNvPr>
          <p:cNvSpPr>
            <a:spLocks xmlns:a="http://schemas.openxmlformats.org/drawingml/2006/main" noGrp="1"/>
          </p:cNvSpPr>
          <p:nvPr/>
        </p:nvSpPr>
        <p:spPr>
          <a:xfrm xmlns:a="http://schemas.openxmlformats.org/drawingml/2006/main">
            <a:off x="685800" y="49434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3DF"/>
                </a:solidFill>
                <a:latin typeface="Helvetica Neue"/>
                <a:ea typeface="Helvetica Neue"/>
                <a:cs typeface="Helvetica Neue"/>
              </a:defRPr>
            </a:defPPr>
          </a:lstStyle>
          <a:p xmlns:a="http://schemas.openxmlformats.org/drawingml/2006/main">
            <a:pPr>
              <a:buNone/>
              <a:defRPr sz="2250" b="0">
                <a:solidFill>
                  <a:srgbClr val="FFF3DF"/>
                </a:solidFill>
                <a:latin typeface="Helvetica Neue"/>
                <a:ea typeface="Helvetica Neue"/>
                <a:cs typeface="Helvetica Neue"/>
              </a:defRPr>
            </a:pPr>
            <a:r>
              <a:rPr sz="2250" b="0">
                <a:solidFill>
                  <a:srgbClr val="FFF3DF"/>
                </a:solidFill>
                <a:latin typeface="Helvetica Neue"/>
                <a:ea typeface="Helvetica Neue"/>
                <a:cs typeface="Helvetica Neue"/>
              </a:rPr>
              <a:t>Our minimum is ___% because ___.</a:t>
            </a:r>
          </a:p>
          <a:p xmlns:a="http://schemas.openxmlformats.org/drawingml/2006/main">
            <a:pPr>
              <a:buNone/>
              <a:defRPr sz="2250" b="0">
                <a:solidFill>
                  <a:srgbClr val="FFF3DF"/>
                </a:solidFill>
                <a:latin typeface="Helvetica Neue"/>
                <a:ea typeface="Helvetica Neue"/>
                <a:cs typeface="Helvetica Neue"/>
              </a:defRPr>
            </a:pPr>
            <a:r>
              <a:rPr sz="2250" b="0">
                <a:solidFill>
                  <a:srgbClr val="FFF3DF"/>
                </a:solidFill>
                <a:latin typeface="Helvetica Neue"/>
                <a:ea typeface="Helvetica Neue"/>
                <a:cs typeface="Helvetica Neue"/>
              </a:rPr>
              <a:t>This price meets it. The trade-off is worth it because ___.</a:t>
            </a:r>
          </a:p>
        </p:txBody>
      </p:sp>
      <p:sp>
        <p:nvSpPr>
          <p:cNvPr id="8" name="footer">
            <a:extLst xmlns:a="http://schemas.openxmlformats.org/drawingml/2006/main">
              <a:ext uri="{FF2B5EF4-FFF2-40B4-BE49-F238E27FC236}">
                <a16:creationId xmlns:a16="http://schemas.microsoft.com/office/drawing/2014/main" id="{5D0D049E-DED0-41F4-89E9-EC27E6B277D8}"/>
              </a:ext>
            </a:extLst>
          </p:cNvPr>
          <p:cNvSpPr>
            <a:spLocks xmlns:a="http://schemas.openxmlformats.org/drawingml/2006/main" noGrp="1"/>
          </p:cNvSpPr>
          <p:nvPr/>
        </p:nvSpPr>
        <p:spPr>
          <a:xfrm xmlns:a="http://schemas.openxmlformats.org/drawingml/2006/main">
            <a:off x="685800" y="62293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C8B4D1"/>
                </a:solidFill>
                <a:latin typeface="Helvetica Neue"/>
                <a:ea typeface="Helvetica Neue"/>
                <a:cs typeface="Helvetica Neue"/>
              </a:defRPr>
            </a:defPPr>
          </a:lstStyle>
          <a:p xmlns:a="http://schemas.openxmlformats.org/drawingml/2006/main">
            <a:pPr>
              <a:buNone/>
              <a:defRPr sz="1500" b="0">
                <a:solidFill>
                  <a:srgbClr val="C8B4D1"/>
                </a:solidFill>
                <a:latin typeface="Helvetica Neue"/>
                <a:ea typeface="Helvetica Neue"/>
                <a:cs typeface="Helvetica Neue"/>
              </a:defRPr>
            </a:pPr>
            <a:r>
              <a:rPr sz="1500" b="0">
                <a:solidFill>
                  <a:srgbClr val="C8B4D1"/>
                </a:solidFill>
                <a:latin typeface="Helvetica Neue"/>
                <a:ea typeface="Helvetica Neue"/>
                <a:cs typeface="Helvetica Neue"/>
              </a:rPr>
              <a:t>No price meets your minimum? Explain that result and what you would try next.</a:t>
            </a:r>
          </a:p>
        </p:txBody>
      </p:sp>
    </p:spTree>
    <p:extLst>
      <p:ext uri="{BB962C8B-B14F-4D97-AF65-F5344CB8AC3E}">
        <p14:creationId xmlns:p14="http://schemas.microsoft.com/office/powerpoint/2010/main" val="878917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2026-10-15T22:35:11.1420000Z</dcterms:created>
  <dcterms:modified xsi:type="dcterms:W3CDTF">2026-10-15T22:35:11.1420000Z</dcterms:modified>
</coreProperties>
</file>